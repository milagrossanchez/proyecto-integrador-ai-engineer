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Calibri"/>
              </a:rPr>
              <a:t>PROYECTO INTEGRADOR  ·  AVANCES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6070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>
                <a:solidFill>
                  <a:srgbClr val="FFFFFF"/>
                </a:solidFill>
                <a:latin typeface="Georgia"/>
              </a:rPr>
              <a:t>Identificación de riesgos y optimización de recompensas con Machine Learning e IA generativa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023360"/>
            <a:ext cx="2194560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7D0E4"/>
                </a:solidFill>
                <a:latin typeface="Calibri"/>
              </a:rPr>
              <a:t>Casino Palacio Real  ·  caso de estudio 2026 (datos simulados)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DD6"/>
                </a:solidFill>
                <a:latin typeface="Calibri"/>
              </a:rPr>
              <a:t>Modelos v2, arquitectura, IA generativa, aplicación web y repositorio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DD6"/>
                </a:solidFill>
                <a:latin typeface="Calibri"/>
              </a:rPr>
              <a:t>Equipo del proyecto  ·  24/09/2026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Objetivo y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02/13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Objetivo general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Desarrollar una solución de Machine Learning e IA generativa que identifique el nivel de riesgo de cada cliente y estime su probabilidad de respuesta, para optimizar la asignación de recompensas del casino.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Salvaguarda transversal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Los clientes de riesgo alto quedan excluidos de toda campaña de incentivo y se derivan al protocolo de juego responsable — regla dura, no depende del criterio del modelo.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Qué se integra en esta entrega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Modelos de riesgo y respuesta optimizados (búsqueda de hiperparámetros).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Documentación técnica de ambos modelos, con diagrama.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Aplicación web revisada y actualizada, con el chatbot de IA generativa funcionando.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Repositorio público en GitHub con buenas prácticas.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Pipeline de extremo a extremo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03/13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920240"/>
            <a:ext cx="1810512" cy="21031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920240"/>
            <a:ext cx="1810512" cy="64008"/>
          </a:xfrm>
          <a:prstGeom prst="rect">
            <a:avLst/>
          </a:prstGeom>
          <a:solidFill>
            <a:srgbClr val="55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066544"/>
            <a:ext cx="1572768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6A80"/>
                </a:solidFill>
                <a:latin typeface="Georgia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Fuente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SQL Server
FctPlayerSession
+ modelo estrella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274320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2" y="1920240"/>
            <a:ext cx="1810512" cy="21031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3432" y="1920240"/>
            <a:ext cx="1810512" cy="64008"/>
          </a:xfrm>
          <a:prstGeom prst="rect">
            <a:avLst/>
          </a:prstGeom>
          <a:solidFill>
            <a:srgbClr val="55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2066544"/>
            <a:ext cx="1572768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6A80"/>
                </a:solidFill>
                <a:latin typeface="Georgia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ETL + features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vw_FeaturesCliente
1 fila por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74320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1920240"/>
            <a:ext cx="1810512" cy="21031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920240"/>
            <a:ext cx="1810512" cy="64008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066544"/>
            <a:ext cx="1572768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E6A"/>
                </a:solidFill>
                <a:latin typeface="Georgia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Modelos ML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Riesgo (B/M/A)
Respuesta P(0-1)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74320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920240"/>
            <a:ext cx="1810512" cy="21031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920240"/>
            <a:ext cx="1810512" cy="6400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2066544"/>
            <a:ext cx="1572768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A5A2B"/>
                </a:solidFill>
                <a:latin typeface="Georgia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Optimización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valor esperado
− costo ≤ presupuesto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4424" y="274320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1920240"/>
            <a:ext cx="1810512" cy="21031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1920240"/>
            <a:ext cx="1810512" cy="64008"/>
          </a:xfrm>
          <a:prstGeom prst="rect">
            <a:avLst/>
          </a:prstGeom>
          <a:solidFill>
            <a:srgbClr val="6C4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066544"/>
            <a:ext cx="1572768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C4B8C"/>
                </a:solidFill>
                <a:latin typeface="Georgia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IA generativa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explica + oferta
+ chatbot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8" y="274320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30968" y="1920240"/>
            <a:ext cx="1810512" cy="21031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30968" y="1920240"/>
            <a:ext cx="1810512" cy="64008"/>
          </a:xfrm>
          <a:prstGeom prst="rect">
            <a:avLst/>
          </a:prstGeom>
          <a:solidFill>
            <a:srgbClr val="6C4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8984" y="2066544"/>
            <a:ext cx="1572768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C4B8C"/>
                </a:solidFill>
                <a:latin typeface="Georgia"/>
              </a:rPr>
              <a:t>6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Entrega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app Streamlit
tablero + demo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343400"/>
            <a:ext cx="11430000" cy="502920"/>
          </a:xfrm>
          <a:prstGeom prst="rect">
            <a:avLst/>
          </a:prstGeom>
          <a:solidFill>
            <a:srgbClr val="F6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70832"/>
            <a:ext cx="1115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B23A3A"/>
                </a:solidFill>
                <a:latin typeface="Calibri"/>
              </a:rPr>
              <a:t>Guardrail: riesgo Alto no entra al optimizador (4) ni recibe oferta de la IA generativa (5).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07492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Stack: SQL Server 2022 · Python (pandas, scikit-learn) · API Anthropic (claude-sonnet) · Streamlit · pytest / ruff.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6E6A62"/>
                </a:solidFill>
                <a:latin typeface="Calibri"/>
              </a:rPr>
              <a:t>Detalle completo: docs/arquitectura.md  ·  Repo: github.com/milagrossanchez/proyecto-integrador-ai-engineer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De sesiones a una tabla por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04/13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Fuente: FctPlayerSession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100 000 sesiones simuladas · 888 clientes · 15 días (jul 2026) · modelo estrella con 9 dimensiones en SQL Server.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Tabla analítica vw_FeaturesCliente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30+ variables por cliente en 5 grupos: actividad/frecuencia, valor/monetario, intensidad de juego, patrones de riesgo, tendencia reciente.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2697480" cy="11887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64008" cy="1188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67911"/>
            <a:ext cx="240487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888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clientes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749039"/>
            <a:ext cx="2697480" cy="11887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3749039"/>
            <a:ext cx="64008" cy="1188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867911"/>
            <a:ext cx="240487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100 000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sesiones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749039"/>
            <a:ext cx="2697480" cy="11887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3749039"/>
            <a:ext cx="64008" cy="1188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867911"/>
            <a:ext cx="240487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30+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variables por cliente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3749039"/>
            <a:ext cx="2697480" cy="118872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3749039"/>
            <a:ext cx="64008" cy="1188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3867911"/>
            <a:ext cx="240487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70 / 22 / 8 %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pirámide de riesgo (B/M/A)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621 Bajo · 196 Medio · 71 Alto — pirámide realista, no tercios iguales.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6E6A62"/>
                </a:solidFill>
                <a:latin typeface="Calibri"/>
              </a:rPr>
              <a:t>Detalle de columnas y diccionario: docs/datos.md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MODELO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Nivel de riesgo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05/13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Qué predice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Bajo / Medio / Alto por cliente, combinando riesgo de juego no responsable y de rentabilidad del incentivo.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Cómo está construido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Capa no supervisada: IsolationForest marca perfiles atípicos, sin necesitar etiquetas.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Capa supervisada: HistGradientBoostingClassifier con class_weight='balanced' (la clase Alto es minoritaria, ~8%).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Ajuste: RandomizedSearchCV, 25 combinaciones, validación cruzada de 5 particiones, métrica F1 macro.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Variables más influyentes (importancia por permutación)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Duración máxima de sesión · % sesiones persiguiendo pérdidas (chasing) · CoinIn por hora · % sesiones largas.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MODELO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Probabilidad de respuesta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06/13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Qué predice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La probabilidad (0 a 1) de que el cliente reaccione a una recompensa; se usa calibrada porque el optimizador la necesita como probabilidad real.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Cómo está construido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HistGradientBoostingClassifier ajustado con RandomizedSearchCV (métrica PR-AUC) + CalibratedClassifierCV (isotónica).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Etiqueta (proxy)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'Momentum positivo': gasto de los últimos 7 días por encima de lo esperado si el ritmo fuera constante. En producción se reemplaza por resultados reales de campañas.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Variables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Actividad, valor histórico y beneficios acumulados — sin usar la ventana reciente que define la etiqueta (evita fuga de información).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Métricas y comparación contra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07/13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114800"/>
              </a:tblGrid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 de riesgo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 de respuesta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Algoritmo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HistGradientBoosting + IsolationForest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HistGradientBoosting + calibración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Ajuste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RandomizedSearchCV (25 comb., CV=5)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RandomizedSearchCV (25 comb., CV=5)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Métrica principal (holdout)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F1 macro = 0.805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ROC-AUC = 0.638 · PR-AUC = 0.709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Baseline de comparación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— (multiclase, se valida con matriz de confusión)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Regresión logística: ROC-AUC 0.531 · PR-AUC 0.642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Detecta bien Bajo/Medio; Alto con recall 0.61 (grupo chico, 14 casos en el holdout)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Supera al baseline en ambas métricas de ranking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Lift decil superior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1.26× (el decil más propenso responde 26% más que el promedio)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Partición de validación (holdout) separada de la búsqueda de hiperparámetros; ver docs/modelos.md.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OPTIMIZACIÓN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Asignación de recompensas — resultado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08/13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Mecánica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valor esperado = P(respuesta) × valor incremental estimado − costo. Se rankea por eficiencia y se asigna hasta agotar el presupuesto (tipo mochila).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34640"/>
            <a:ext cx="3520440" cy="13716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834640"/>
            <a:ext cx="6400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53512"/>
            <a:ext cx="322783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A1B3D"/>
                </a:solidFill>
                <a:latin typeface="Georgia"/>
              </a:rPr>
              <a:t>S/ 15 000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presupuesto de la corrida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834640"/>
            <a:ext cx="3520440" cy="13716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834640"/>
            <a:ext cx="6400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53512"/>
            <a:ext cx="322783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A1B3D"/>
                </a:solidFill>
                <a:latin typeface="Georgia"/>
              </a:rPr>
              <a:t>181 / 181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candidatos asignados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834640"/>
            <a:ext cx="3520440" cy="13716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834640"/>
            <a:ext cx="6400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953512"/>
            <a:ext cx="322783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A1B3D"/>
                </a:solidFill>
                <a:latin typeface="Georgia"/>
              </a:rPr>
              <a:t>S/ 905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gasto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07408"/>
            <a:ext cx="3520440" cy="13716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407408"/>
            <a:ext cx="6400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322783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A1B3D"/>
                </a:solidFill>
                <a:latin typeface="Georgia"/>
              </a:rPr>
              <a:t>+S/ 576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valor esperado del optimizador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407408"/>
            <a:ext cx="3520440" cy="13716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407408"/>
            <a:ext cx="6400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526280"/>
            <a:ext cx="322783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A1B3D"/>
                </a:solidFill>
                <a:latin typeface="Georgia"/>
              </a:rPr>
              <a:t>817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clientes que toca el baseline actual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4407408"/>
            <a:ext cx="3520440" cy="13716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4407408"/>
            <a:ext cx="6400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526280"/>
            <a:ext cx="322783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A1B3D"/>
                </a:solidFill>
                <a:latin typeface="Georgia"/>
              </a:rPr>
              <a:t>−S/ 9 390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A3A3A"/>
                </a:solidFill>
                <a:latin typeface="Calibri"/>
              </a:rPr>
              <a:t>valor esperado del baseline (pierde plata)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9436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A3A3A"/>
                </a:solidFill>
                <a:latin typeface="Calibri"/>
              </a:rPr>
              <a:t>El optimizador solo asigna donde el valor esperado es positivo; el método por reglas actual reparte de más y termina en pérdida.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IA GENERATIVA · BLOQUE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Explicación y oferta por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09/13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Qué hace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Traduce los números del modelo (riesgo, probabilidad, señales) a texto claro: por qué, qué ofrecer y qué mensaje enviar.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Ejemplo real (cliente 900252, VIP, riesgo Medio)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017520"/>
            <a:ext cx="10789920" cy="29260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332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A1B3D"/>
                </a:solidFill>
                <a:latin typeface="Calibri"/>
              </a:rPr>
              <a:t>Explicación: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A3A3A"/>
                </a:solidFill>
                <a:latin typeface="Calibri"/>
              </a:rPr>
              <a:t>Riesgo medio con probabilidad de respuesta 71%. Patrón de juego moderado; una recompensa baja refuerza fidelidad sin incentivar mayor exposición.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A1B3D"/>
                </a:solidFill>
                <a:latin typeface="Calibri"/>
              </a:rPr>
              <a:t>Oferta: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A3A3A"/>
                </a:solidFill>
                <a:latin typeface="Calibri"/>
              </a:rPr>
              <a:t>Recompensa baja — 500 puntos de fidelidad adicionales.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A1B3D"/>
                </a:solidFill>
                <a:latin typeface="Calibri"/>
              </a:rPr>
              <a:t>Mensaje: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A3A3A"/>
                </a:solidFill>
                <a:latin typeface="Calibri"/>
              </a:rPr>
              <a:t>"Hola, gracias por tu preferencia. Tienes disponible un beneficio especial para tu próxima visita."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264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B23A3A"/>
                </a:solidFill>
                <a:latin typeface="Calibri"/>
              </a:rPr>
              <a:t>Si el cliente es riesgo Alto, no se genera oferta: se emite una nota de derivación a juego responsable.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IA GENERATIVA · BLOQUE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Chatbot RAG para el analista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10/13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Qué hace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Responde preguntas del analista anclado en 6 documentos de política (recompensas, juego responsable, guía de asignación, catálogo, FAQ, glosario). Si no está en los documentos, lo dice — no inventa.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Ejemplo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017520"/>
            <a:ext cx="10789920" cy="29260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332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A1B3D"/>
                </a:solidFill>
                <a:latin typeface="Calibri"/>
              </a:rPr>
              <a:t>Pregunta: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A3A3A"/>
                </a:solidFill>
                <a:latin typeface="Calibri"/>
              </a:rPr>
              <a:t>¿Un cliente de riesgo medio puede recibir recompensa alta?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A1B3D"/>
                </a:solidFill>
                <a:latin typeface="Calibri"/>
              </a:rPr>
              <a:t>Respuesta: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A3A3A"/>
                </a:solidFill>
                <a:latin typeface="Calibri"/>
              </a:rPr>
              <a:t>No. Según preguntas_frecuentes.md y guia_asignacion_recompensas.md: los clientes de riesgo medio solo pueden recibir recompensa baja o media; las altas se reservan para riesgo bajo.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A1B3D"/>
                </a:solidFill>
                <a:latin typeface="Calibri"/>
              </a:rPr>
              <a:t>Fuentes citadas: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6E6A62"/>
                </a:solidFill>
                <a:latin typeface="Calibri"/>
              </a:rPr>
              <a:t>guia_asignacion_recompensas.md · preguntas_frecuentes.md · protocolo_juego_responsable.md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La aplicación web (Streamlit)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11/13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520440" cy="27432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590288"/>
            <a:ext cx="3520440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📊 Cartera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C7D0E4"/>
                </a:solidFill>
                <a:latin typeface="Calibri"/>
              </a:rPr>
              <a:t>Tablero: presupuesto, distribución de riesgo, plan de asignación completo con el corte de presupuesto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520440" cy="27432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4590288"/>
            <a:ext cx="3520440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🧑 Cliente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C7D0E4"/>
                </a:solidFill>
                <a:latin typeface="Calibri"/>
              </a:rPr>
              <a:t>Ficha individual: scores del modelo + explicación, oferta y mensaje generados por la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520440" cy="27432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4590288"/>
            <a:ext cx="3520440" cy="7315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19456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💬 Asistente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C7D0E4"/>
                </a:solidFill>
                <a:latin typeface="Calibri"/>
              </a:rPr>
              <a:t>Chat con historial, RAG sobre políticas, indica si el LLM está conectado o en modo plantilla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A3A3A"/>
                </a:solidFill>
                <a:latin typeface="Calibri"/>
              </a:rPr>
              <a:t>Barra lateral: estado de los modelos (F1, ROC-AUC vs. baseline) y de la IA generativa (conectada / modo plantilla).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Levantar la app: streamlit run src/casino_ia/app/streamlit_app.py  —  probada end-to-end, sin errores.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BUENAS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Repositorio y estructura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12/13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github.com/milagrossanchez/proyecto-integrador-ai-engineer — público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sql/ — scripts numerados: carga, modelo estrella, tabla analítica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src/casino_ia/ — código modular: config, data, features, models, optimization, genai, app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docs/ — arquitectura.md, modelos.md, datos.md (con diagramas)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rag/ — base de conocimiento del chatbot (políticas + referencia)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tests/ — 8 pruebas automáticas con pytest, todas en verde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requirements.txt, .env.example, .gitignore, LICENSE (MIT), README con diagrama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github.com/milagrossanchez/proyecto-integrador-ai-engineer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17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A1B3D"/>
                </a:solidFill>
                <a:latin typeface="Georgia"/>
              </a:rPr>
              <a:t>Estado del proyecto y 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13/13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Completado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Base de datos, modelo estrella y tabla analítica · EDA · modelos de riesgo y respuesta v2 (tuneados) · optimizador · IA generativa (explicador + RAG) · app web · repositorio con buenas prácticas.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A1B3D"/>
                </a:solidFill>
                <a:latin typeface="Calibri"/>
              </a:rPr>
              <a:t>Próximos pasos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Evaluación completa con más escenarios de presupuesto y sensibilidad.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Informe técnico (PDF) y video demostrativo.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Despliegue en Azure (bloque 4): Azure SQL, Azure OpenAI, Azure AI Search, Container Apps.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–  Reemplazar etiquetas proxy por datos reales de campañas y de juego responsable cuando estén disponibles.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¿Consultas y feedback del docente?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