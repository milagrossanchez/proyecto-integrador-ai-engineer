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9A24B"/>
                </a:solidFill>
                <a:latin typeface="Calibri"/>
              </a:rPr>
              <a:t>PROYECTO INTEGRADOR  ·  PRIMER SEGUIMIENTO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FFFFFF"/>
                </a:solidFill>
                <a:latin typeface="Georgia"/>
              </a:rPr>
              <a:t>Identificación de riesgos y optimización de recompensas con Machine Learning e IA generativa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97680"/>
            <a:ext cx="2194560" cy="4572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7D0E4"/>
                </a:solidFill>
                <a:latin typeface="Calibri"/>
              </a:rPr>
              <a:t>Casino Palacio Real  ·  caso de estudio 2026 (datos simulados)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DD6"/>
                </a:solidFill>
                <a:latin typeface="Calibri"/>
              </a:rPr>
              <a:t>Problema, objetivos, datos disponibles y arquitectura propuesta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DD6"/>
                </a:solidFill>
                <a:latin typeface="Calibri"/>
              </a:rPr>
              <a:t>Equipo del proyecto  ·  28/08/2026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Del problema a la solución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Lo que ya planteamos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Casino Palacio Real asigna recompensas (bonos, promociones, beneficios) a clientes con perfiles y comportamientos muy distintos.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Hoy la decisión se apoya en reglas generales y segmentaciones tradicionales → asignación poco eficiente del presupuesto promocional.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Falta responder de forma objetiva: ¿qué clientes tienen mayor potencial de respuesta y qué nivel de riesgo debe considerarse antes de darles un beneficio?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Lo que aporta este primer seguimiento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Objetivos medibles, inventario de datos disponibles y la arquitectura de la solución (2 modelos de ML + optimizador + capa de IA generativa).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Qué queremos lograr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Objetivo general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Desarrollar una solución basada en Machine Learning e IA generativa que identifique niveles de riesgo y estime la probabilidad de respuesta de los clientes potenciales, para apoyar la optimización de la asignación de recompensas en Casino Palacio Real.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Objetivos específicos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Construir una tabla analítica por cliente a partir del histórico de sesiones (FctPlayerSession).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Entrenar un modelo que asigne un nivel de riesgo (bajo / medio / alto) por cliente.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Entrenar un modelo que estime la probabilidad de respuesta a una recompensa.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Definir un criterio de asignación de recompensas que combine valor esperado, riesgo y presupuesto.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Incorporar IA generativa para explicar los resultados y generar recomendaciones accionables.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Qué entra y qué no en esta etapa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5394960" cy="420624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5394960" cy="5029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Dentro de alcance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50292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Definición del problema y objetivos validados</a:t>
            </a:r>
          </a:p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Inventario y perfilado de los datos (100 000 sesiones)</a:t>
            </a:r>
          </a:p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Tabla analítica por cliente (features de riesgo y respuesta)</a:t>
            </a:r>
          </a:p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Arquitectura de la solución y plan de modelado</a:t>
            </a:r>
          </a:p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Baseline por reglas y etiquetas iniciales (proxy)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5120640" cy="420624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828800"/>
            <a:ext cx="5120640" cy="5029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47088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Fuera de alcance (etapas siguientes)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475488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Modelos finales y ajuste de hiperparámetros</a:t>
            </a:r>
          </a:p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Optimizador de recompensas y capa de IA generativa integrados</a:t>
            </a:r>
          </a:p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Evaluación completa y demo en vivo</a:t>
            </a:r>
          </a:p>
          <a:p>
            <a:pPr algn="l" lvl="1">
              <a:spcAft>
                <a:spcPts val="900"/>
              </a:spcAft>
            </a:pPr>
            <a:r>
              <a:rPr sz="1200" b="0">
                <a:solidFill>
                  <a:srgbClr val="3A3A3A"/>
                </a:solidFill>
                <a:latin typeface="Calibri"/>
              </a:rPr>
              <a:t>–  Integración con los sistemas productivos del casino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VISIÓN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Cómo funciona la solución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2212848" cy="2286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416552"/>
            <a:ext cx="2212848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340864"/>
            <a:ext cx="193852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A1B3D"/>
                </a:solidFill>
                <a:latin typeface="Georgia"/>
              </a:rPr>
              <a:t>Datos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Sesiones de juego
+ dimensiones
(cliente, sala, tiempo)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2616" y="3108960"/>
            <a:ext cx="146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6352" y="2194560"/>
            <a:ext cx="2212848" cy="2286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16352" y="4416552"/>
            <a:ext cx="2212848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2656" y="2340864"/>
            <a:ext cx="193852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Modelo de riesgo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Nivel de riesgo
por cliente
(Bajo/Medio/Alto)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3108960"/>
            <a:ext cx="146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75504" y="2194560"/>
            <a:ext cx="2212848" cy="2286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75504" y="4416552"/>
            <a:ext cx="2212848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2340864"/>
            <a:ext cx="193852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Modelo de respuesta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Probabilidad de
responder a una
recompensa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108960"/>
            <a:ext cx="146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34656" y="2194560"/>
            <a:ext cx="2212848" cy="2286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34656" y="4416552"/>
            <a:ext cx="2212848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340864"/>
            <a:ext cx="193852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Optimizador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Asignación de
recompensa segun
valor, riesgo y
presupuesto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0072" y="3108960"/>
            <a:ext cx="1463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93808" y="2194560"/>
            <a:ext cx="2212848" cy="2286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93808" y="4416552"/>
            <a:ext cx="2212848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0112" y="2340864"/>
            <a:ext cx="1938528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Georgia"/>
              </a:rPr>
              <a:t>IA generativa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Explica el porqué
y redacta la
oferta y el mensaje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3776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B23A3A"/>
                </a:solidFill>
                <a:latin typeface="Calibri"/>
              </a:rPr>
              <a:t>Salvaguarda de juego responsable: los clientes marcados como de riesgo alto se excluyen de campañas de incentivo y se derivan a los protocolos de juego responsable, no reciben mayor estímulo de juego.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DATOS DISPONIBLES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Con qué información contamos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108813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Fuente principal: FctPlayerSession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Tabla de hechos de sesiones de juego del casino. Trabajamos con una muestra simulada: playersession_ficticio_100k.csv (45 columnas).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Cada fila = una sesión: cliente, máquina, inicio/fin, tiempo jugado, apuestas (CoinIn), resultado, puntos y comps ganados, número de visita.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Dimensiones construidas (modelo estrella)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DimCliente, DimMaquina, DimSala, DimEmpresa, DimUbicacion, DimMoneda, DimCalendario — para enriquecer y segmentar.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160520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4160520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79392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100 000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sesiones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2152" y="4160520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2152" y="4160520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4279392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888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clientes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18504" y="4160520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18504" y="4160520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4279392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15 días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15–29 jul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4856" y="4160520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34856" y="4160520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7736" y="4279392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~112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sesiones / cliente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449824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5449824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68696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$41,4 M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CoinIn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02152" y="5449824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02152" y="5449824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5032" y="5568696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$2,88 M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valor teórico casa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18504" y="5449824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8504" y="5449824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4" y="5568696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27 737 h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tiempo jugado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34856" y="5449824"/>
            <a:ext cx="2697480" cy="1143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34856" y="5449824"/>
            <a:ext cx="64008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7736" y="5568696"/>
            <a:ext cx="2404872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A1B3D"/>
                </a:solidFill>
                <a:latin typeface="Georgia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3A3A3A"/>
                </a:solidFill>
                <a:latin typeface="Calibri"/>
              </a:rPr>
              <a:t>salas de juego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PREPARACIÓN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De sesiones a una tabla por cliente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783080"/>
          <a:ext cx="108356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577840"/>
                <a:gridCol w="2331720"/>
              </a:tblGrid>
              <a:tr h="57476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Grupo de variables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Ejemplos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 qué modelo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Actividad / frecuencia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nº sesiones, días activos, nº de visitas, recencia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Riesgo + Respuesta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Valor / monetario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CoinIn total, valor teórico casa, pérdidas acumuladas, comps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Riesgo + Respuesta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Intensidad de juego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CoinIn por hora, duración de sesión, apuesta máxima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Riesgo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Patrones de riesgo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% sesiones largas, % juego madrugada, % 'chasing' tras pérdida, volatilidad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Riesgo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Tendencia reciente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CoinIn y sesiones últimos 7 días vs. periodo previo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Respuesta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Beneficios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comps y puntos acumulados, uso de promociones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Respuesta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Implementado en SQL Server como vw_FeaturesCliente (888 filas, una por cliente).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COMPONENTE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Modelo de nivel de riesgo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Qué predice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Un nivel de riesgo por cliente: Bajo / Medio / Alto, combinando riesgo de juego no responsable (señales conductuales) y riesgo de rentabilidad del incentivo.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Enfoque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Prototipo: reglas + percentiles sobre las señales de intensidad y detección de anomalías / clustering (no supervisado).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Versión final: clasificación supervisada (árboles / gradient boosting) sobre etiquetas de juego responsable y rentabilidad.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Uso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Filtro previo a cualquier campaña: el riesgo alto no se incentiva; el riesgo medio recibe recompensas moderadas.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COMPONENTE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Modelo de probabilidad de respuesta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Qué predice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La probabilidad (0 a 1) de que un cliente responda positivamente a una recompensa: vuelve a visitar / juega tras recibir el incentivo.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Enfoque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Clasificación binaria (regresión logística como baseline, luego gradient boosting) con las variables de actividad, valor y tendencia.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Si hay histórico de campañas con grupo de control: modelo de uplift (efecto incremental del incentivo).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Salida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Score calibrado + decil de propensión; en el prototipo se usa una regla proxy (recencia + tendencia + uso de comps).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COMPONENTE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Optimización de la asignación de recompensas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Idea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Elegir a quién y qué recompensa dar para maximizar el retorno esperado del presupuesto promocional.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Valor esperado por cliente  =  P(respuesta) × valor incremental estimado  −  costo de la recompensa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Restricciones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Presupuesto total de la campaña.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Excluir clientes de riesgo alto (juego responsable); limitar a riesgo medio.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Topes por segmento y por tipo de recompensa.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Método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Ranking por valor esperado y selección tipo 'mochila' (knapsack); baseline = reglas actuales del casino.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COMPONENTE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Capa de IA generativa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Explicación de resultados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Traduce los scores y las variables (p. ej. SHAP) a un texto claro: por qué este cliente es de riesgo medio y alta propensión.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Recomendación accionable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Genera la oferta sugerida y el mensaje personalizado (canal, tono, beneficio) para cada cliente elegible.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Consulta en lenguaje natural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El analista pregunta sobre la cartera y recibe respuestas y resúmenes.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Control (RAG + guardrails)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Las respuestas se anclan en la política de recompensas y de juego responsable; nunca sugiere incentivar a clientes de riesgo alto.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Pipeline de extremo a extremo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057400"/>
            <a:ext cx="1810512" cy="214884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2057400"/>
            <a:ext cx="1810512" cy="64008"/>
          </a:xfrm>
          <a:prstGeom prst="rect">
            <a:avLst/>
          </a:prstGeom>
          <a:solidFill>
            <a:srgbClr val="55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203704"/>
            <a:ext cx="1572768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6A80"/>
                </a:solidFill>
                <a:latin typeface="Georgia"/>
              </a:rPr>
              <a:t>1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A1B3D"/>
                </a:solidFill>
                <a:latin typeface="Georgia"/>
              </a:rPr>
              <a:t>Fuente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A3A3A"/>
                </a:solidFill>
                <a:latin typeface="Calibri"/>
              </a:rPr>
              <a:t>SQL Server
FctPlayerSession
+ modelo estrella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2926080"/>
            <a:ext cx="118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3432" y="2057400"/>
            <a:ext cx="1810512" cy="214884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3432" y="2057400"/>
            <a:ext cx="1810512" cy="64008"/>
          </a:xfrm>
          <a:prstGeom prst="rect">
            <a:avLst/>
          </a:prstGeom>
          <a:solidFill>
            <a:srgbClr val="55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2203704"/>
            <a:ext cx="1572768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56A80"/>
                </a:solidFill>
                <a:latin typeface="Georgia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A1B3D"/>
                </a:solidFill>
                <a:latin typeface="Georgia"/>
              </a:rPr>
              <a:t>ETL + features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A3A3A"/>
                </a:solidFill>
                <a:latin typeface="Calibri"/>
              </a:rPr>
              <a:t>extract.py / build.py
tabla analítica
1 fila por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5656" y="2926080"/>
            <a:ext cx="118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2816" y="2057400"/>
            <a:ext cx="1810512" cy="214884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6" y="2057400"/>
            <a:ext cx="1810512" cy="64008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203704"/>
            <a:ext cx="1572768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6E6A"/>
                </a:solidFill>
                <a:latin typeface="Georgia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A1B3D"/>
                </a:solidFill>
                <a:latin typeface="Georgia"/>
              </a:rPr>
              <a:t>Modelos ML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A3A3A"/>
                </a:solidFill>
                <a:latin typeface="Calibri"/>
              </a:rPr>
              <a:t>riesgo (B/M/A)
respuesta P(0-1)
gradient boosting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926080"/>
            <a:ext cx="118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057400"/>
            <a:ext cx="1810512" cy="214884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057400"/>
            <a:ext cx="1810512" cy="6400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2203704"/>
            <a:ext cx="1572768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A5A2B"/>
                </a:solidFill>
                <a:latin typeface="Georgia"/>
              </a:rPr>
              <a:t>4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A1B3D"/>
                </a:solidFill>
                <a:latin typeface="Georgia"/>
              </a:rPr>
              <a:t>Optimización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A3A3A"/>
                </a:solidFill>
                <a:latin typeface="Calibri"/>
              </a:rPr>
              <a:t>valor esperado − costo
≤ presupuesto
selección tipo mochila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4424" y="2926080"/>
            <a:ext cx="118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01584" y="2057400"/>
            <a:ext cx="1810512" cy="214884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1584" y="2057400"/>
            <a:ext cx="1810512" cy="64008"/>
          </a:xfrm>
          <a:prstGeom prst="rect">
            <a:avLst/>
          </a:prstGeom>
          <a:solidFill>
            <a:srgbClr val="6C4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203704"/>
            <a:ext cx="1572768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C4B8C"/>
                </a:solidFill>
                <a:latin typeface="Georgia"/>
              </a:rPr>
              <a:t>5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A1B3D"/>
                </a:solidFill>
                <a:latin typeface="Georgia"/>
              </a:rPr>
              <a:t>IA generativa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A3A3A"/>
                </a:solidFill>
                <a:latin typeface="Calibri"/>
              </a:rPr>
              <a:t>explica el score
+ oferta y mensaje
+ chatbot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3808" y="2926080"/>
            <a:ext cx="1188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9A24B"/>
                </a:solidFill>
                <a:latin typeface="Calibri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30968" y="2057400"/>
            <a:ext cx="1810512" cy="214884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30968" y="2057400"/>
            <a:ext cx="1810512" cy="64008"/>
          </a:xfrm>
          <a:prstGeom prst="rect">
            <a:avLst/>
          </a:prstGeom>
          <a:solidFill>
            <a:srgbClr val="6C4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58984" y="2203704"/>
            <a:ext cx="1572768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C4B8C"/>
                </a:solidFill>
                <a:latin typeface="Georgia"/>
              </a:rPr>
              <a:t>6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0A1B3D"/>
                </a:solidFill>
                <a:latin typeface="Georgia"/>
              </a:rPr>
              <a:t>Entrega</a:t>
            </a:r>
          </a:p>
          <a:p>
            <a:pPr algn="l">
              <a:spcAft>
                <a:spcPts val="600"/>
              </a:spcAft>
            </a:pPr>
            <a:r>
              <a:rPr sz="950" b="0">
                <a:solidFill>
                  <a:srgbClr val="3A3A3A"/>
                </a:solidFill>
                <a:latin typeface="Calibri"/>
              </a:rPr>
              <a:t>app Streamlit
tablero + demo
+ chat analista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526280"/>
            <a:ext cx="11430000" cy="566928"/>
          </a:xfrm>
          <a:prstGeom prst="rect">
            <a:avLst/>
          </a:prstGeom>
          <a:solidFill>
            <a:srgbClr val="F6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53712"/>
            <a:ext cx="111556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23A3A"/>
                </a:solidFill>
                <a:latin typeface="Calibri"/>
              </a:rPr>
              <a:t>Guardrail de juego responsable: riesgo Alto NO entra al optimizador (4) ni recibe oferta de la IA generativa (5); se deriva al protocolo de juego responsable.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5303520"/>
            <a:ext cx="11430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A3A3A"/>
                </a:solidFill>
                <a:latin typeface="Calibri"/>
              </a:rPr>
              <a:t>Stack: SQL Server 2022 · Python (pandas, scikit-learn) · API LLM (claude-sonnet) · Streamlit · pytest / ruff.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6E6A62"/>
                </a:solidFill>
                <a:latin typeface="Calibri"/>
              </a:rPr>
              <a:t>Detalle: docs/arquitectura.md  ·  visual: claude.ai/code/artifact/26eb71e4  ·  repo: github.com/milagrossanchez/proyecto-integrador-ai-engineer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Cómo mediremos que funciona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783080"/>
          <a:ext cx="108356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001000"/>
              </a:tblGrid>
              <a:tr h="56170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Métricas</a:t>
                      </a:r>
                    </a:p>
                  </a:txBody>
                  <a:tcPr>
                    <a:solidFill>
                      <a:srgbClr val="0A1B3D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Modelo de riesgo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AUC / F1, recall en clase 'Alto', matriz de confusión; validación con reglas expertas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Modelo de respuesta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AUC-ROC, PR-AUC, calibración (Brier), curvas lift / ganancia, Precision@K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Uplift (si aplica)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coeficiente de Qini, uplift por decil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Optimización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retorno esperado de la cartera vs. baseline de reglas, uso de presupuesto, cobertura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IA generativa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rúbrica de utilidad y fidelidad de las explicaciones, % de recomendaciones conformes a política</a:t>
                      </a:r>
                    </a:p>
                  </a:txBody>
                  <a:tcPr>
                    <a:solidFill>
                      <a:srgbClr val="F1ECE1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Negocio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ROI incremental simulado, nº de clientes de riesgo alto correctamente excluidos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E6A62"/>
                </a:solidFill>
                <a:latin typeface="Calibri"/>
              </a:rPr>
              <a:t>Partición temporal: se entrena con los primeros días y se valida con los últimos.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Lo que ya está construido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881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0A1B3D"/>
                </a:solidFill>
                <a:latin typeface="Calibri"/>
              </a:rPr>
              <a:t>Datos y features (SQL Server)</a:t>
            </a:r>
          </a:p>
          <a:p>
            <a:pPr algn="l" lvl="1">
              <a:spcAft>
                <a:spcPts val="9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–  Base CasinoPalacioReal cargada: FctPlayerSession (100 000 filas) + modelo estrella + vistas. Tabla analítica vw_FeaturesCliente lista (888 clientes, 30+ variables).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0A1B3D"/>
                </a:solidFill>
                <a:latin typeface="Calibri"/>
              </a:rPr>
              <a:t>Modelos v1 entrenados</a:t>
            </a:r>
          </a:p>
          <a:p>
            <a:pPr algn="l" lvl="1">
              <a:spcAft>
                <a:spcPts val="9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–  Riesgo: IsolationForest + Gradient Boosting — F1 macro (CV) ≈ 0,86. Respuesta: Gradient Boosting calibrado — ROC-AUC ≈ 0,65, PR-AUC ≈ 0,72.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0A1B3D"/>
                </a:solidFill>
                <a:latin typeface="Calibri"/>
              </a:rPr>
              <a:t>Optimizador v1</a:t>
            </a:r>
          </a:p>
          <a:p>
            <a:pPr algn="l" lvl="1">
              <a:spcAft>
                <a:spcPts val="9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–  Asigna solo donde el valor esperado es positivo; en la prueba supera al baseline por reglas (que destruye valor con asignaciones no rentables).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0A1B3D"/>
                </a:solidFill>
                <a:latin typeface="Calibri"/>
              </a:rPr>
              <a:t>Repositorio y buenas prácticas</a:t>
            </a:r>
          </a:p>
          <a:p>
            <a:pPr algn="l" lvl="1">
              <a:spcAft>
                <a:spcPts val="900"/>
              </a:spcAft>
            </a:pPr>
            <a:r>
              <a:rPr sz="1300" b="0">
                <a:solidFill>
                  <a:srgbClr val="3A3A3A"/>
                </a:solidFill>
                <a:latin typeface="Calibri"/>
              </a:rPr>
              <a:t>–  GitHub público, estructura modular (src/), requirements.txt, .env.example, .gitignore, LICENSE, 8 pruebas con pytest, README con diagrama.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github.com/milagrossanchez/proyecto-integrador-ai-engineer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9A24B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0A1B3D"/>
                </a:solidFill>
                <a:latin typeface="Georgia"/>
              </a:rPr>
              <a:t>Plan, riesgos y próximos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81328"/>
            <a:ext cx="2011680" cy="411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E6A62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Cronograma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Hecho: base de datos, tabla analítica, modelos v1 de riesgo y respuesta, optimizador v1, repositorio.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Hoy → 2º seguimiento: calibrar modelos, integrar la capa de IA generativa (explicación + oferta + RAG) y primera versión de la app.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2º seguimiento → entrega: evaluación completa, demo en vivo, informe técnico y video; despliegue en Azure.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0A1B3D"/>
                </a:solidFill>
                <a:latin typeface="Calibri"/>
              </a:rPr>
              <a:t>Riesgos y mitigación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Datos simulados sin etiquetas reales → uso de proxies y métodos no supervisados; documentar supuestos.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Sesgo y equidad en el scoring → auditar, no usar atributos sensibles.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Riesgo ético (incentivar juego problemático) → exclusión obligatoria de riesgo alto y guardrails en la IA generativa.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3A3A3A"/>
                </a:solidFill>
                <a:latin typeface="Calibri"/>
              </a:rPr>
              <a:t>–  Alucinaciones del LLM → RAG sobre políticas + validación + rúbrica de revisión.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¿Consultas y feedback del docente?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