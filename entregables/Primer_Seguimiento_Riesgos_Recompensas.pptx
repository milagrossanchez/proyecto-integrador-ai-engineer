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B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15544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C9A24B"/>
                </a:solidFill>
                <a:latin typeface="Calibri"/>
              </a:rPr>
              <a:t>PROYECTO INTEGRADOR  ·  PRIMER SEGUIMIENTO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057400"/>
            <a:ext cx="1060704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0">
                <a:solidFill>
                  <a:srgbClr val="FFFFFF"/>
                </a:solidFill>
                <a:latin typeface="Georgia"/>
              </a:rPr>
              <a:t>Identificación de riesgos y optimización de recompensas con Machine Learning e IA generativa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4297680"/>
            <a:ext cx="2194560" cy="45720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4526280"/>
            <a:ext cx="100584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C7D0E4"/>
                </a:solidFill>
                <a:latin typeface="Calibri"/>
              </a:rPr>
              <a:t>Casino Palacio Real  ·  caso de estudio 2026 (datos simulados)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9AADD6"/>
                </a:solidFill>
                <a:latin typeface="Calibri"/>
              </a:rPr>
              <a:t>Problema, objetivos, datos disponibles y arquitectura propuesta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9AADD6"/>
                </a:solidFill>
                <a:latin typeface="Calibri"/>
              </a:rPr>
              <a:t>Equipo del proyecto  ·  28/08/2026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C9A24B"/>
                </a:solidFill>
                <a:latin typeface="Calibri"/>
              </a:rPr>
              <a:t>PUNTO DE PARTIDA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658368"/>
            <a:ext cx="106070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0">
                <a:solidFill>
                  <a:srgbClr val="0A1B3D"/>
                </a:solidFill>
                <a:latin typeface="Georgia"/>
              </a:rPr>
              <a:t>Del problema a la solución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81328"/>
            <a:ext cx="2011680" cy="41148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0" y="384048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>
                <a:solidFill>
                  <a:srgbClr val="6E6A62"/>
                </a:solidFill>
                <a:latin typeface="Calibri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83080"/>
            <a:ext cx="10881360" cy="4754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900"/>
              </a:spcAft>
            </a:pPr>
            <a:r>
              <a:rPr sz="1800" b="1">
                <a:solidFill>
                  <a:srgbClr val="0A1B3D"/>
                </a:solidFill>
                <a:latin typeface="Calibri"/>
              </a:rPr>
              <a:t>Lo que ya planteamos</a:t>
            </a:r>
          </a:p>
          <a:p>
            <a:pPr algn="l" lvl="1">
              <a:spcAft>
                <a:spcPts val="900"/>
              </a:spcAft>
            </a:pPr>
            <a:r>
              <a:rPr sz="1500" b="0">
                <a:solidFill>
                  <a:srgbClr val="3A3A3A"/>
                </a:solidFill>
                <a:latin typeface="Calibri"/>
              </a:rPr>
              <a:t>–  Casino Palacio Real asigna recompensas (bonos, promociones, beneficios) a clientes con perfiles y comportamientos muy distintos.</a:t>
            </a:r>
          </a:p>
          <a:p>
            <a:pPr algn="l" lvl="1">
              <a:spcAft>
                <a:spcPts val="900"/>
              </a:spcAft>
            </a:pPr>
            <a:r>
              <a:rPr sz="1500" b="0">
                <a:solidFill>
                  <a:srgbClr val="3A3A3A"/>
                </a:solidFill>
                <a:latin typeface="Calibri"/>
              </a:rPr>
              <a:t>–  Hoy la decisión se apoya en reglas generales y segmentaciones tradicionales → asignación poco eficiente del presupuesto promocional.</a:t>
            </a:r>
          </a:p>
          <a:p>
            <a:pPr algn="l" lvl="1">
              <a:spcAft>
                <a:spcPts val="900"/>
              </a:spcAft>
            </a:pPr>
            <a:r>
              <a:rPr sz="1500" b="0">
                <a:solidFill>
                  <a:srgbClr val="3A3A3A"/>
                </a:solidFill>
                <a:latin typeface="Calibri"/>
              </a:rPr>
              <a:t>–  Falta responder de forma objetiva: ¿qué clientes tienen mayor potencial de respuesta y qué nivel de riesgo debe considerarse antes de darles un beneficio?</a:t>
            </a:r>
          </a:p>
          <a:p>
            <a:pPr algn="l">
              <a:spcAft>
                <a:spcPts val="900"/>
              </a:spcAft>
            </a:pPr>
            <a:r>
              <a:rPr sz="1800" b="1">
                <a:solidFill>
                  <a:srgbClr val="0A1B3D"/>
                </a:solidFill>
                <a:latin typeface="Calibri"/>
              </a:rPr>
              <a:t>Lo que aporta este primer seguimiento</a:t>
            </a:r>
          </a:p>
          <a:p>
            <a:pPr algn="l" lvl="1">
              <a:spcAft>
                <a:spcPts val="900"/>
              </a:spcAft>
            </a:pPr>
            <a:r>
              <a:rPr sz="1500" b="0">
                <a:solidFill>
                  <a:srgbClr val="3A3A3A"/>
                </a:solidFill>
                <a:latin typeface="Calibri"/>
              </a:rPr>
              <a:t>–  Objetivos medibles, inventario de datos disponibles y la arquitectura de la solución (2 modelos de ML + optimizador + capa de IA generativa).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C9A24B"/>
                </a:solidFill>
                <a:latin typeface="Calibri"/>
              </a:rPr>
              <a:t>OBJETIVOS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658368"/>
            <a:ext cx="106070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0">
                <a:solidFill>
                  <a:srgbClr val="0A1B3D"/>
                </a:solidFill>
                <a:latin typeface="Georgia"/>
              </a:rPr>
              <a:t>Qué queremos lograr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81328"/>
            <a:ext cx="2011680" cy="41148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0" y="384048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>
                <a:solidFill>
                  <a:srgbClr val="6E6A62"/>
                </a:solidFill>
                <a:latin typeface="Calibri"/>
              </a:rPr>
              <a:t>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83080"/>
            <a:ext cx="10881360" cy="4754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900"/>
              </a:spcAft>
            </a:pPr>
            <a:r>
              <a:rPr sz="1800" b="1">
                <a:solidFill>
                  <a:srgbClr val="0A1B3D"/>
                </a:solidFill>
                <a:latin typeface="Calibri"/>
              </a:rPr>
              <a:t>Objetivo general</a:t>
            </a:r>
          </a:p>
          <a:p>
            <a:pPr algn="l" lvl="1">
              <a:spcAft>
                <a:spcPts val="900"/>
              </a:spcAft>
            </a:pPr>
            <a:r>
              <a:rPr sz="1500" b="0">
                <a:solidFill>
                  <a:srgbClr val="3A3A3A"/>
                </a:solidFill>
                <a:latin typeface="Calibri"/>
              </a:rPr>
              <a:t>–  Desarrollar una solución basada en Machine Learning e IA generativa que identifique niveles de riesgo y estime la probabilidad de respuesta de los clientes potenciales, para apoyar la optimización de la asignación de recompensas en Casino Palacio Real.</a:t>
            </a:r>
          </a:p>
          <a:p>
            <a:pPr algn="l">
              <a:spcAft>
                <a:spcPts val="900"/>
              </a:spcAft>
            </a:pPr>
            <a:r>
              <a:rPr sz="1800" b="1">
                <a:solidFill>
                  <a:srgbClr val="0A1B3D"/>
                </a:solidFill>
                <a:latin typeface="Calibri"/>
              </a:rPr>
              <a:t>Objetivos específicos</a:t>
            </a:r>
          </a:p>
          <a:p>
            <a:pPr algn="l" lvl="1">
              <a:spcAft>
                <a:spcPts val="900"/>
              </a:spcAft>
            </a:pPr>
            <a:r>
              <a:rPr sz="1500" b="0">
                <a:solidFill>
                  <a:srgbClr val="3A3A3A"/>
                </a:solidFill>
                <a:latin typeface="Calibri"/>
              </a:rPr>
              <a:t>–  Construir una tabla analítica por cliente a partir del histórico de sesiones (FctPlayerSession).</a:t>
            </a:r>
          </a:p>
          <a:p>
            <a:pPr algn="l" lvl="1">
              <a:spcAft>
                <a:spcPts val="900"/>
              </a:spcAft>
            </a:pPr>
            <a:r>
              <a:rPr sz="1500" b="0">
                <a:solidFill>
                  <a:srgbClr val="3A3A3A"/>
                </a:solidFill>
                <a:latin typeface="Calibri"/>
              </a:rPr>
              <a:t>–  Entrenar un modelo que asigne un nivel de riesgo (bajo / medio / alto) por cliente.</a:t>
            </a:r>
          </a:p>
          <a:p>
            <a:pPr algn="l" lvl="1">
              <a:spcAft>
                <a:spcPts val="900"/>
              </a:spcAft>
            </a:pPr>
            <a:r>
              <a:rPr sz="1500" b="0">
                <a:solidFill>
                  <a:srgbClr val="3A3A3A"/>
                </a:solidFill>
                <a:latin typeface="Calibri"/>
              </a:rPr>
              <a:t>–  Entrenar un modelo que estime la probabilidad de respuesta a una recompensa.</a:t>
            </a:r>
          </a:p>
          <a:p>
            <a:pPr algn="l" lvl="1">
              <a:spcAft>
                <a:spcPts val="900"/>
              </a:spcAft>
            </a:pPr>
            <a:r>
              <a:rPr sz="1500" b="0">
                <a:solidFill>
                  <a:srgbClr val="3A3A3A"/>
                </a:solidFill>
                <a:latin typeface="Calibri"/>
              </a:rPr>
              <a:t>–  Definir un criterio de asignación de recompensas que combine valor esperado, riesgo y presupuesto.</a:t>
            </a:r>
          </a:p>
          <a:p>
            <a:pPr algn="l" lvl="1">
              <a:spcAft>
                <a:spcPts val="900"/>
              </a:spcAft>
            </a:pPr>
            <a:r>
              <a:rPr sz="1500" b="0">
                <a:solidFill>
                  <a:srgbClr val="3A3A3A"/>
                </a:solidFill>
                <a:latin typeface="Calibri"/>
              </a:rPr>
              <a:t>–  Incorporar IA generativa para explicar los resultados y generar recomendaciones accionables.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C9A24B"/>
                </a:solidFill>
                <a:latin typeface="Calibri"/>
              </a:rPr>
              <a:t>ALCANCE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658368"/>
            <a:ext cx="106070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0">
                <a:solidFill>
                  <a:srgbClr val="0A1B3D"/>
                </a:solidFill>
                <a:latin typeface="Georgia"/>
              </a:rPr>
              <a:t>Qué entra y qué no en esta etapa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81328"/>
            <a:ext cx="2011680" cy="41148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0" y="384048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>
                <a:solidFill>
                  <a:srgbClr val="6E6A62"/>
                </a:solidFill>
                <a:latin typeface="Calibri"/>
              </a:rPr>
              <a:t>04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1828800"/>
            <a:ext cx="5394960" cy="4206240"/>
          </a:xfrm>
          <a:prstGeom prst="rect">
            <a:avLst/>
          </a:prstGeom>
          <a:solidFill>
            <a:srgbClr val="F1EC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1828800"/>
            <a:ext cx="5394960" cy="502920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847088"/>
            <a:ext cx="50292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Dentro de alcance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468880"/>
            <a:ext cx="5029200" cy="3383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lvl="1">
              <a:spcAft>
                <a:spcPts val="900"/>
              </a:spcAft>
            </a:pPr>
            <a:r>
              <a:rPr sz="1200" b="0">
                <a:solidFill>
                  <a:srgbClr val="3A3A3A"/>
                </a:solidFill>
                <a:latin typeface="Calibri"/>
              </a:rPr>
              <a:t>–  Definición del problema y objetivos validados</a:t>
            </a:r>
          </a:p>
          <a:p>
            <a:pPr algn="l" lvl="1">
              <a:spcAft>
                <a:spcPts val="900"/>
              </a:spcAft>
            </a:pPr>
            <a:r>
              <a:rPr sz="1200" b="0">
                <a:solidFill>
                  <a:srgbClr val="3A3A3A"/>
                </a:solidFill>
                <a:latin typeface="Calibri"/>
              </a:rPr>
              <a:t>–  Inventario y perfilado de los datos (100 000 sesiones)</a:t>
            </a:r>
          </a:p>
          <a:p>
            <a:pPr algn="l" lvl="1">
              <a:spcAft>
                <a:spcPts val="900"/>
              </a:spcAft>
            </a:pPr>
            <a:r>
              <a:rPr sz="1200" b="0">
                <a:solidFill>
                  <a:srgbClr val="3A3A3A"/>
                </a:solidFill>
                <a:latin typeface="Calibri"/>
              </a:rPr>
              <a:t>–  Tabla analítica por cliente (features de riesgo y respuesta)</a:t>
            </a:r>
          </a:p>
          <a:p>
            <a:pPr algn="l" lvl="1">
              <a:spcAft>
                <a:spcPts val="900"/>
              </a:spcAft>
            </a:pPr>
            <a:r>
              <a:rPr sz="1200" b="0">
                <a:solidFill>
                  <a:srgbClr val="3A3A3A"/>
                </a:solidFill>
                <a:latin typeface="Calibri"/>
              </a:rPr>
              <a:t>–  Arquitectura de la solución y plan de modelado</a:t>
            </a:r>
          </a:p>
          <a:p>
            <a:pPr algn="l" lvl="1">
              <a:spcAft>
                <a:spcPts val="900"/>
              </a:spcAft>
            </a:pPr>
            <a:r>
              <a:rPr sz="1200" b="0">
                <a:solidFill>
                  <a:srgbClr val="3A3A3A"/>
                </a:solidFill>
                <a:latin typeface="Calibri"/>
              </a:rPr>
              <a:t>–  Baseline por reglas y etiquetas iniciales (proxy)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5080" y="1828800"/>
            <a:ext cx="5120640" cy="4206240"/>
          </a:xfrm>
          <a:prstGeom prst="rect">
            <a:avLst/>
          </a:prstGeom>
          <a:solidFill>
            <a:srgbClr val="F1EC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55080" y="1828800"/>
            <a:ext cx="5120640" cy="502920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37960" y="1847088"/>
            <a:ext cx="47548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Fuera de alcance (etapas siguientes)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2468880"/>
            <a:ext cx="4754880" cy="3383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lvl="1">
              <a:spcAft>
                <a:spcPts val="900"/>
              </a:spcAft>
            </a:pPr>
            <a:r>
              <a:rPr sz="1200" b="0">
                <a:solidFill>
                  <a:srgbClr val="3A3A3A"/>
                </a:solidFill>
                <a:latin typeface="Calibri"/>
              </a:rPr>
              <a:t>–  Modelos finales y ajuste de hiperparámetros</a:t>
            </a:r>
          </a:p>
          <a:p>
            <a:pPr algn="l" lvl="1">
              <a:spcAft>
                <a:spcPts val="900"/>
              </a:spcAft>
            </a:pPr>
            <a:r>
              <a:rPr sz="1200" b="0">
                <a:solidFill>
                  <a:srgbClr val="3A3A3A"/>
                </a:solidFill>
                <a:latin typeface="Calibri"/>
              </a:rPr>
              <a:t>–  Optimizador de recompensas y capa de IA generativa integrados</a:t>
            </a:r>
          </a:p>
          <a:p>
            <a:pPr algn="l" lvl="1">
              <a:spcAft>
                <a:spcPts val="900"/>
              </a:spcAft>
            </a:pPr>
            <a:r>
              <a:rPr sz="1200" b="0">
                <a:solidFill>
                  <a:srgbClr val="3A3A3A"/>
                </a:solidFill>
                <a:latin typeface="Calibri"/>
              </a:rPr>
              <a:t>–  Evaluación completa y demo en vivo</a:t>
            </a:r>
          </a:p>
          <a:p>
            <a:pPr algn="l" lvl="1">
              <a:spcAft>
                <a:spcPts val="900"/>
              </a:spcAft>
            </a:pPr>
            <a:r>
              <a:rPr sz="1200" b="0">
                <a:solidFill>
                  <a:srgbClr val="3A3A3A"/>
                </a:solidFill>
                <a:latin typeface="Calibri"/>
              </a:rPr>
              <a:t>–  Integración con los sistemas productivos del casino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C9A24B"/>
                </a:solidFill>
                <a:latin typeface="Calibri"/>
              </a:rPr>
              <a:t>VISIÓN GENERAL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658368"/>
            <a:ext cx="106070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0">
                <a:solidFill>
                  <a:srgbClr val="0A1B3D"/>
                </a:solidFill>
                <a:latin typeface="Georgia"/>
              </a:rPr>
              <a:t>Cómo funciona la solución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81328"/>
            <a:ext cx="2011680" cy="41148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0" y="384048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>
                <a:solidFill>
                  <a:srgbClr val="6E6A62"/>
                </a:solidFill>
                <a:latin typeface="Calibri"/>
              </a:rPr>
              <a:t>05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194560"/>
            <a:ext cx="2212848" cy="2286000"/>
          </a:xfrm>
          <a:prstGeom prst="rect">
            <a:avLst/>
          </a:prstGeom>
          <a:solidFill>
            <a:srgbClr val="F1EC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4416552"/>
            <a:ext cx="2212848" cy="64008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" y="2340864"/>
            <a:ext cx="1938528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0A1B3D"/>
                </a:solidFill>
                <a:latin typeface="Georgia"/>
              </a:rPr>
              <a:t>Datos</a:t>
            </a:r>
          </a:p>
          <a:p>
            <a:pPr algn="l">
              <a:spcAft>
                <a:spcPts val="600"/>
              </a:spcAft>
            </a:pPr>
            <a:r>
              <a:rPr sz="1050" b="0">
                <a:solidFill>
                  <a:srgbClr val="3A3A3A"/>
                </a:solidFill>
                <a:latin typeface="Calibri"/>
              </a:rPr>
              <a:t>Sesiones de juego
+ dimensiones
(cliente, sala, tiempo)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42616" y="3108960"/>
            <a:ext cx="146304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C9A24B"/>
                </a:solidFill>
                <a:latin typeface="Calibri"/>
              </a:rPr>
              <a:t>›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816352" y="2194560"/>
            <a:ext cx="2212848" cy="2286000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816352" y="4416552"/>
            <a:ext cx="2212848" cy="64008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62656" y="2340864"/>
            <a:ext cx="1938528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Georgia"/>
              </a:rPr>
              <a:t>Modelo de riesgo</a:t>
            </a:r>
          </a:p>
          <a:p>
            <a:pPr algn="l">
              <a:spcAft>
                <a:spcPts val="600"/>
              </a:spcAft>
            </a:pPr>
            <a:r>
              <a:rPr sz="1050" b="0">
                <a:solidFill>
                  <a:srgbClr val="FFFFFF"/>
                </a:solidFill>
                <a:latin typeface="Calibri"/>
              </a:rPr>
              <a:t>Nivel de riesgo
por cliente
(Bajo/Medio/Alto)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01768" y="3108960"/>
            <a:ext cx="146304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C9A24B"/>
                </a:solidFill>
                <a:latin typeface="Calibri"/>
              </a:rPr>
              <a:t>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175504" y="2194560"/>
            <a:ext cx="2212848" cy="2286000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175504" y="4416552"/>
            <a:ext cx="2212848" cy="64008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21808" y="2340864"/>
            <a:ext cx="1938528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Georgia"/>
              </a:rPr>
              <a:t>Modelo de respuesta</a:t>
            </a:r>
          </a:p>
          <a:p>
            <a:pPr algn="l">
              <a:spcAft>
                <a:spcPts val="600"/>
              </a:spcAft>
            </a:pPr>
            <a:r>
              <a:rPr sz="1050" b="0">
                <a:solidFill>
                  <a:srgbClr val="FFFFFF"/>
                </a:solidFill>
                <a:latin typeface="Calibri"/>
              </a:rPr>
              <a:t>Probabilidad de
responder a una
recompensa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60920" y="3108960"/>
            <a:ext cx="146304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C9A24B"/>
                </a:solidFill>
                <a:latin typeface="Calibri"/>
              </a:rPr>
              <a:t>›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534656" y="2194560"/>
            <a:ext cx="2212848" cy="2286000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534656" y="4416552"/>
            <a:ext cx="2212848" cy="64008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80960" y="2340864"/>
            <a:ext cx="1938528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Georgia"/>
              </a:rPr>
              <a:t>Optimizador</a:t>
            </a:r>
          </a:p>
          <a:p>
            <a:pPr algn="l">
              <a:spcAft>
                <a:spcPts val="600"/>
              </a:spcAft>
            </a:pPr>
            <a:r>
              <a:rPr sz="1050" b="0">
                <a:solidFill>
                  <a:srgbClr val="FFFFFF"/>
                </a:solidFill>
                <a:latin typeface="Calibri"/>
              </a:rPr>
              <a:t>Asignación de
recompensa segun
valor, riesgo y
presupuesto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720072" y="3108960"/>
            <a:ext cx="146304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C9A24B"/>
                </a:solidFill>
                <a:latin typeface="Calibri"/>
              </a:rPr>
              <a:t>›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893808" y="2194560"/>
            <a:ext cx="2212848" cy="2286000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893808" y="4416552"/>
            <a:ext cx="2212848" cy="64008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40112" y="2340864"/>
            <a:ext cx="1938528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Georgia"/>
              </a:rPr>
              <a:t>IA generativa</a:t>
            </a:r>
          </a:p>
          <a:p>
            <a:pPr algn="l">
              <a:spcAft>
                <a:spcPts val="600"/>
              </a:spcAft>
            </a:pPr>
            <a:r>
              <a:rPr sz="1050" b="0">
                <a:solidFill>
                  <a:srgbClr val="FFFFFF"/>
                </a:solidFill>
                <a:latin typeface="Calibri"/>
              </a:rPr>
              <a:t>Explica el porqué
y redacta la
oferta y el mensaje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4937760"/>
            <a:ext cx="1088136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>
                <a:solidFill>
                  <a:srgbClr val="B23A3A"/>
                </a:solidFill>
                <a:latin typeface="Calibri"/>
              </a:rPr>
              <a:t>Salvaguarda de juego responsable: los clientes marcados como de riesgo alto se excluyen de campañas de incentivo y se derivan a los protocolos de juego responsable, no reciben mayor estímulo de juego.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C9A24B"/>
                </a:solidFill>
                <a:latin typeface="Calibri"/>
              </a:rPr>
              <a:t>DATOS DISPONIBLES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658368"/>
            <a:ext cx="106070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0">
                <a:solidFill>
                  <a:srgbClr val="0A1B3D"/>
                </a:solidFill>
                <a:latin typeface="Georgia"/>
              </a:rPr>
              <a:t>Con qué información contamos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81328"/>
            <a:ext cx="2011680" cy="41148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0" y="384048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>
                <a:solidFill>
                  <a:srgbClr val="6E6A62"/>
                </a:solidFill>
                <a:latin typeface="Calibri"/>
              </a:rPr>
              <a:t>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37360"/>
            <a:ext cx="1088136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900"/>
              </a:spcAft>
            </a:pPr>
            <a:r>
              <a:rPr sz="1800" b="1">
                <a:solidFill>
                  <a:srgbClr val="0A1B3D"/>
                </a:solidFill>
                <a:latin typeface="Calibri"/>
              </a:rPr>
              <a:t>Fuente principal: FctPlayerSession</a:t>
            </a:r>
          </a:p>
          <a:p>
            <a:pPr algn="l" lvl="1">
              <a:spcAft>
                <a:spcPts val="900"/>
              </a:spcAft>
            </a:pPr>
            <a:r>
              <a:rPr sz="1500" b="0">
                <a:solidFill>
                  <a:srgbClr val="3A3A3A"/>
                </a:solidFill>
                <a:latin typeface="Calibri"/>
              </a:rPr>
              <a:t>–  Tabla de hechos de sesiones de juego del casino. Trabajamos con una muestra simulada: playersession_ficticio_100k.csv (45 columnas).</a:t>
            </a:r>
          </a:p>
          <a:p>
            <a:pPr algn="l" lvl="1">
              <a:spcAft>
                <a:spcPts val="900"/>
              </a:spcAft>
            </a:pPr>
            <a:r>
              <a:rPr sz="1500" b="0">
                <a:solidFill>
                  <a:srgbClr val="3A3A3A"/>
                </a:solidFill>
                <a:latin typeface="Calibri"/>
              </a:rPr>
              <a:t>–  Cada fila = una sesión: cliente, máquina, inicio/fin, tiempo jugado, apuestas (CoinIn), resultado, puntos y comps ganados, número de visita.</a:t>
            </a:r>
          </a:p>
          <a:p>
            <a:pPr algn="l">
              <a:spcAft>
                <a:spcPts val="900"/>
              </a:spcAft>
            </a:pPr>
            <a:r>
              <a:rPr sz="1800" b="1">
                <a:solidFill>
                  <a:srgbClr val="0A1B3D"/>
                </a:solidFill>
                <a:latin typeface="Calibri"/>
              </a:rPr>
              <a:t>Dimensiones construidas (modelo estrella)</a:t>
            </a:r>
          </a:p>
          <a:p>
            <a:pPr algn="l" lvl="1">
              <a:spcAft>
                <a:spcPts val="900"/>
              </a:spcAft>
            </a:pPr>
            <a:r>
              <a:rPr sz="1500" b="0">
                <a:solidFill>
                  <a:srgbClr val="3A3A3A"/>
                </a:solidFill>
                <a:latin typeface="Calibri"/>
              </a:rPr>
              <a:t>–  DimCliente, DimMaquina, DimSala, DimEmpresa, DimUbicacion, DimMoneda, DimCalendario — para enriquecer y segmentar.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4160520"/>
            <a:ext cx="2697480" cy="1143000"/>
          </a:xfrm>
          <a:prstGeom prst="rect">
            <a:avLst/>
          </a:prstGeom>
          <a:solidFill>
            <a:srgbClr val="F1EC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4160520"/>
            <a:ext cx="64008" cy="1143000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4279392"/>
            <a:ext cx="2404872" cy="9052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0A1B3D"/>
                </a:solidFill>
                <a:latin typeface="Georgia"/>
              </a:rPr>
              <a:t>100 000</a:t>
            </a:r>
          </a:p>
          <a:p>
            <a:pPr algn="l">
              <a:spcAft>
                <a:spcPts val="600"/>
              </a:spcAft>
            </a:pPr>
            <a:r>
              <a:rPr sz="1050" b="0">
                <a:solidFill>
                  <a:srgbClr val="3A3A3A"/>
                </a:solidFill>
                <a:latin typeface="Calibri"/>
              </a:rPr>
              <a:t>sesiones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502152" y="4160520"/>
            <a:ext cx="2697480" cy="1143000"/>
          </a:xfrm>
          <a:prstGeom prst="rect">
            <a:avLst/>
          </a:prstGeom>
          <a:solidFill>
            <a:srgbClr val="F1EC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502152" y="4160520"/>
            <a:ext cx="64008" cy="1143000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85032" y="4279392"/>
            <a:ext cx="2404872" cy="9052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0A1B3D"/>
                </a:solidFill>
                <a:latin typeface="Georgia"/>
              </a:rPr>
              <a:t>888</a:t>
            </a:r>
          </a:p>
          <a:p>
            <a:pPr algn="l">
              <a:spcAft>
                <a:spcPts val="600"/>
              </a:spcAft>
            </a:pPr>
            <a:r>
              <a:rPr sz="1050" b="0">
                <a:solidFill>
                  <a:srgbClr val="3A3A3A"/>
                </a:solidFill>
                <a:latin typeface="Calibri"/>
              </a:rPr>
              <a:t>clientes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18504" y="4160520"/>
            <a:ext cx="2697480" cy="1143000"/>
          </a:xfrm>
          <a:prstGeom prst="rect">
            <a:avLst/>
          </a:prstGeom>
          <a:solidFill>
            <a:srgbClr val="F1EC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18504" y="4160520"/>
            <a:ext cx="64008" cy="1143000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01384" y="4279392"/>
            <a:ext cx="2404872" cy="9052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0A1B3D"/>
                </a:solidFill>
                <a:latin typeface="Georgia"/>
              </a:rPr>
              <a:t>15 días</a:t>
            </a:r>
          </a:p>
          <a:p>
            <a:pPr algn="l">
              <a:spcAft>
                <a:spcPts val="600"/>
              </a:spcAft>
            </a:pPr>
            <a:r>
              <a:rPr sz="1050" b="0">
                <a:solidFill>
                  <a:srgbClr val="3A3A3A"/>
                </a:solidFill>
                <a:latin typeface="Calibri"/>
              </a:rPr>
              <a:t>15–29 jul 2026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34856" y="4160520"/>
            <a:ext cx="2697480" cy="1143000"/>
          </a:xfrm>
          <a:prstGeom prst="rect">
            <a:avLst/>
          </a:prstGeom>
          <a:solidFill>
            <a:srgbClr val="F1EC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134856" y="4160520"/>
            <a:ext cx="64008" cy="1143000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17736" y="4279392"/>
            <a:ext cx="2404872" cy="9052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0A1B3D"/>
                </a:solidFill>
                <a:latin typeface="Georgia"/>
              </a:rPr>
              <a:t>~112</a:t>
            </a:r>
          </a:p>
          <a:p>
            <a:pPr algn="l">
              <a:spcAft>
                <a:spcPts val="600"/>
              </a:spcAft>
            </a:pPr>
            <a:r>
              <a:rPr sz="1050" b="0">
                <a:solidFill>
                  <a:srgbClr val="3A3A3A"/>
                </a:solidFill>
                <a:latin typeface="Calibri"/>
              </a:rPr>
              <a:t>sesiones / cliente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5800" y="5449824"/>
            <a:ext cx="2697480" cy="1143000"/>
          </a:xfrm>
          <a:prstGeom prst="rect">
            <a:avLst/>
          </a:prstGeom>
          <a:solidFill>
            <a:srgbClr val="F1EC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85800" y="5449824"/>
            <a:ext cx="64008" cy="1143000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5568696"/>
            <a:ext cx="2404872" cy="9052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0A1B3D"/>
                </a:solidFill>
                <a:latin typeface="Georgia"/>
              </a:rPr>
              <a:t>$41,4 M</a:t>
            </a:r>
          </a:p>
          <a:p>
            <a:pPr algn="l">
              <a:spcAft>
                <a:spcPts val="600"/>
              </a:spcAft>
            </a:pPr>
            <a:r>
              <a:rPr sz="1050" b="0">
                <a:solidFill>
                  <a:srgbClr val="3A3A3A"/>
                </a:solidFill>
                <a:latin typeface="Calibri"/>
              </a:rPr>
              <a:t>CoinIn total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502152" y="5449824"/>
            <a:ext cx="2697480" cy="1143000"/>
          </a:xfrm>
          <a:prstGeom prst="rect">
            <a:avLst/>
          </a:prstGeom>
          <a:solidFill>
            <a:srgbClr val="F1EC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502152" y="5449824"/>
            <a:ext cx="64008" cy="1143000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85032" y="5568696"/>
            <a:ext cx="2404872" cy="9052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0A1B3D"/>
                </a:solidFill>
                <a:latin typeface="Georgia"/>
              </a:rPr>
              <a:t>$2,88 M</a:t>
            </a:r>
          </a:p>
          <a:p>
            <a:pPr algn="l">
              <a:spcAft>
                <a:spcPts val="600"/>
              </a:spcAft>
            </a:pPr>
            <a:r>
              <a:rPr sz="1050" b="0">
                <a:solidFill>
                  <a:srgbClr val="3A3A3A"/>
                </a:solidFill>
                <a:latin typeface="Calibri"/>
              </a:rPr>
              <a:t>valor teórico casa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18504" y="5449824"/>
            <a:ext cx="2697480" cy="1143000"/>
          </a:xfrm>
          <a:prstGeom prst="rect">
            <a:avLst/>
          </a:prstGeom>
          <a:solidFill>
            <a:srgbClr val="F1EC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318504" y="5449824"/>
            <a:ext cx="64008" cy="1143000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01384" y="5568696"/>
            <a:ext cx="2404872" cy="9052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0A1B3D"/>
                </a:solidFill>
                <a:latin typeface="Georgia"/>
              </a:rPr>
              <a:t>27 737 h</a:t>
            </a:r>
          </a:p>
          <a:p>
            <a:pPr algn="l">
              <a:spcAft>
                <a:spcPts val="600"/>
              </a:spcAft>
            </a:pPr>
            <a:r>
              <a:rPr sz="1050" b="0">
                <a:solidFill>
                  <a:srgbClr val="3A3A3A"/>
                </a:solidFill>
                <a:latin typeface="Calibri"/>
              </a:rPr>
              <a:t>tiempo jugado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134856" y="5449824"/>
            <a:ext cx="2697480" cy="1143000"/>
          </a:xfrm>
          <a:prstGeom prst="rect">
            <a:avLst/>
          </a:prstGeom>
          <a:solidFill>
            <a:srgbClr val="F1EC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134856" y="5449824"/>
            <a:ext cx="64008" cy="1143000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317736" y="5568696"/>
            <a:ext cx="2404872" cy="9052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0A1B3D"/>
                </a:solidFill>
                <a:latin typeface="Georgia"/>
              </a:rPr>
              <a:t>2</a:t>
            </a:r>
          </a:p>
          <a:p>
            <a:pPr algn="l">
              <a:spcAft>
                <a:spcPts val="600"/>
              </a:spcAft>
            </a:pPr>
            <a:r>
              <a:rPr sz="1050" b="0">
                <a:solidFill>
                  <a:srgbClr val="3A3A3A"/>
                </a:solidFill>
                <a:latin typeface="Calibri"/>
              </a:rPr>
              <a:t>salas de juego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C9A24B"/>
                </a:solidFill>
                <a:latin typeface="Calibri"/>
              </a:rPr>
              <a:t>PREPARACIÓN DE DATOS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658368"/>
            <a:ext cx="106070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0">
                <a:solidFill>
                  <a:srgbClr val="0A1B3D"/>
                </a:solidFill>
                <a:latin typeface="Georgia"/>
              </a:rPr>
              <a:t>De sesiones a una tabla por cliente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81328"/>
            <a:ext cx="2011680" cy="41148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0" y="384048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>
                <a:solidFill>
                  <a:srgbClr val="6E6A62"/>
                </a:solidFill>
                <a:latin typeface="Calibri"/>
              </a:rPr>
              <a:t>07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85800" y="1783080"/>
          <a:ext cx="1083564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5577840"/>
                <a:gridCol w="2331720"/>
              </a:tblGrid>
              <a:tr h="574765"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Grupo de variables</a:t>
                      </a:r>
                    </a:p>
                  </a:txBody>
                  <a:tcPr>
                    <a:solidFill>
                      <a:srgbClr val="0A1B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Ejemplos</a:t>
                      </a:r>
                    </a:p>
                  </a:txBody>
                  <a:tcPr>
                    <a:solidFill>
                      <a:srgbClr val="0A1B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Para qué modelo</a:t>
                      </a:r>
                    </a:p>
                  </a:txBody>
                  <a:tcPr>
                    <a:solidFill>
                      <a:srgbClr val="0A1B3D"/>
                    </a:solidFill>
                  </a:tcPr>
                </a:tc>
              </a:tr>
              <a:tr h="574765"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3A3A3A"/>
                          </a:solidFill>
                          <a:latin typeface="Calibri"/>
                        </a:defRPr>
                      </a:pPr>
                      <a:r>
                        <a:t>Actividad / frecuencia</a:t>
                      </a:r>
                    </a:p>
                  </a:txBody>
                  <a:tcPr>
                    <a:solidFill>
                      <a:srgbClr val="F1EC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3A3A3A"/>
                          </a:solidFill>
                          <a:latin typeface="Calibri"/>
                        </a:defRPr>
                      </a:pPr>
                      <a:r>
                        <a:t>nº sesiones, días activos, nº de visitas, recencia</a:t>
                      </a:r>
                    </a:p>
                  </a:txBody>
                  <a:tcPr>
                    <a:solidFill>
                      <a:srgbClr val="F1EC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3A3A3A"/>
                          </a:solidFill>
                          <a:latin typeface="Calibri"/>
                        </a:defRPr>
                      </a:pPr>
                      <a:r>
                        <a:t>Riesgo + Respuesta</a:t>
                      </a:r>
                    </a:p>
                  </a:txBody>
                  <a:tcPr>
                    <a:solidFill>
                      <a:srgbClr val="F1ECE1"/>
                    </a:solidFill>
                  </a:tcPr>
                </a:tc>
              </a:tr>
              <a:tr h="574765"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3A3A3A"/>
                          </a:solidFill>
                          <a:latin typeface="Calibri"/>
                        </a:defRPr>
                      </a:pPr>
                      <a:r>
                        <a:t>Valor / monetario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3A3A3A"/>
                          </a:solidFill>
                          <a:latin typeface="Calibri"/>
                        </a:defRPr>
                      </a:pPr>
                      <a:r>
                        <a:t>CoinIn total, valor teórico casa, pérdidas acumuladas, comps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3A3A3A"/>
                          </a:solidFill>
                          <a:latin typeface="Calibri"/>
                        </a:defRPr>
                      </a:pPr>
                      <a:r>
                        <a:t>Riesgo + Respuesta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4765"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3A3A3A"/>
                          </a:solidFill>
                          <a:latin typeface="Calibri"/>
                        </a:defRPr>
                      </a:pPr>
                      <a:r>
                        <a:t>Intensidad de juego</a:t>
                      </a:r>
                    </a:p>
                  </a:txBody>
                  <a:tcPr>
                    <a:solidFill>
                      <a:srgbClr val="F1EC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3A3A3A"/>
                          </a:solidFill>
                          <a:latin typeface="Calibri"/>
                        </a:defRPr>
                      </a:pPr>
                      <a:r>
                        <a:t>CoinIn por hora, duración de sesión, apuesta máxima</a:t>
                      </a:r>
                    </a:p>
                  </a:txBody>
                  <a:tcPr>
                    <a:solidFill>
                      <a:srgbClr val="F1EC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3A3A3A"/>
                          </a:solidFill>
                          <a:latin typeface="Calibri"/>
                        </a:defRPr>
                      </a:pPr>
                      <a:r>
                        <a:t>Riesgo</a:t>
                      </a:r>
                    </a:p>
                  </a:txBody>
                  <a:tcPr>
                    <a:solidFill>
                      <a:srgbClr val="F1ECE1"/>
                    </a:solidFill>
                  </a:tcPr>
                </a:tc>
              </a:tr>
              <a:tr h="574765"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3A3A3A"/>
                          </a:solidFill>
                          <a:latin typeface="Calibri"/>
                        </a:defRPr>
                      </a:pPr>
                      <a:r>
                        <a:t>Patrones de riesgo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3A3A3A"/>
                          </a:solidFill>
                          <a:latin typeface="Calibri"/>
                        </a:defRPr>
                      </a:pPr>
                      <a:r>
                        <a:t>% sesiones largas, % juego madrugada, % 'chasing' tras pérdida, volatilidad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3A3A3A"/>
                          </a:solidFill>
                          <a:latin typeface="Calibri"/>
                        </a:defRPr>
                      </a:pPr>
                      <a:r>
                        <a:t>Riesgo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4765"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3A3A3A"/>
                          </a:solidFill>
                          <a:latin typeface="Calibri"/>
                        </a:defRPr>
                      </a:pPr>
                      <a:r>
                        <a:t>Tendencia reciente</a:t>
                      </a:r>
                    </a:p>
                  </a:txBody>
                  <a:tcPr>
                    <a:solidFill>
                      <a:srgbClr val="F1EC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3A3A3A"/>
                          </a:solidFill>
                          <a:latin typeface="Calibri"/>
                        </a:defRPr>
                      </a:pPr>
                      <a:r>
                        <a:t>CoinIn y sesiones últimos 7 días vs. periodo previo</a:t>
                      </a:r>
                    </a:p>
                  </a:txBody>
                  <a:tcPr>
                    <a:solidFill>
                      <a:srgbClr val="F1EC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3A3A3A"/>
                          </a:solidFill>
                          <a:latin typeface="Calibri"/>
                        </a:defRPr>
                      </a:pPr>
                      <a:r>
                        <a:t>Respuesta</a:t>
                      </a:r>
                    </a:p>
                  </a:txBody>
                  <a:tcPr>
                    <a:solidFill>
                      <a:srgbClr val="F1ECE1"/>
                    </a:solidFill>
                  </a:tcPr>
                </a:tc>
              </a:tr>
              <a:tr h="574770"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3A3A3A"/>
                          </a:solidFill>
                          <a:latin typeface="Calibri"/>
                        </a:defRPr>
                      </a:pPr>
                      <a:r>
                        <a:t>Beneficios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3A3A3A"/>
                          </a:solidFill>
                          <a:latin typeface="Calibri"/>
                        </a:defRPr>
                      </a:pPr>
                      <a:r>
                        <a:t>comps y puntos acumulados, uso de promociones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3A3A3A"/>
                          </a:solidFill>
                          <a:latin typeface="Calibri"/>
                        </a:defRPr>
                      </a:pPr>
                      <a:r>
                        <a:t>Respuesta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85800" y="5943600"/>
            <a:ext cx="10789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6E6A62"/>
                </a:solidFill>
                <a:latin typeface="Calibri"/>
              </a:rPr>
              <a:t>Implementado en SQL Server como vw_FeaturesCliente (888 filas, una por cliente).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C9A24B"/>
                </a:solidFill>
                <a:latin typeface="Calibri"/>
              </a:rPr>
              <a:t>COMPONENTE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658368"/>
            <a:ext cx="106070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0">
                <a:solidFill>
                  <a:srgbClr val="0A1B3D"/>
                </a:solidFill>
                <a:latin typeface="Georgia"/>
              </a:rPr>
              <a:t>Modelo de nivel de riesgo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81328"/>
            <a:ext cx="2011680" cy="41148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0" y="384048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>
                <a:solidFill>
                  <a:srgbClr val="6E6A62"/>
                </a:solidFill>
                <a:latin typeface="Calibri"/>
              </a:rPr>
              <a:t>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83080"/>
            <a:ext cx="10881360" cy="4754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900"/>
              </a:spcAft>
            </a:pPr>
            <a:r>
              <a:rPr sz="1800" b="1">
                <a:solidFill>
                  <a:srgbClr val="0A1B3D"/>
                </a:solidFill>
                <a:latin typeface="Calibri"/>
              </a:rPr>
              <a:t>Qué predice</a:t>
            </a:r>
          </a:p>
          <a:p>
            <a:pPr algn="l" lvl="1">
              <a:spcAft>
                <a:spcPts val="900"/>
              </a:spcAft>
            </a:pPr>
            <a:r>
              <a:rPr sz="1500" b="0">
                <a:solidFill>
                  <a:srgbClr val="3A3A3A"/>
                </a:solidFill>
                <a:latin typeface="Calibri"/>
              </a:rPr>
              <a:t>–  Un nivel de riesgo por cliente: Bajo / Medio / Alto, combinando riesgo de juego no responsable (señales conductuales) y riesgo de rentabilidad del incentivo.</a:t>
            </a:r>
          </a:p>
          <a:p>
            <a:pPr algn="l">
              <a:spcAft>
                <a:spcPts val="900"/>
              </a:spcAft>
            </a:pPr>
            <a:r>
              <a:rPr sz="1800" b="1">
                <a:solidFill>
                  <a:srgbClr val="0A1B3D"/>
                </a:solidFill>
                <a:latin typeface="Calibri"/>
              </a:rPr>
              <a:t>Enfoque</a:t>
            </a:r>
          </a:p>
          <a:p>
            <a:pPr algn="l" lvl="1">
              <a:spcAft>
                <a:spcPts val="900"/>
              </a:spcAft>
            </a:pPr>
            <a:r>
              <a:rPr sz="1500" b="0">
                <a:solidFill>
                  <a:srgbClr val="3A3A3A"/>
                </a:solidFill>
                <a:latin typeface="Calibri"/>
              </a:rPr>
              <a:t>–  Prototipo: reglas + percentiles sobre las señales de intensidad y detección de anomalías / clustering (no supervisado).</a:t>
            </a:r>
          </a:p>
          <a:p>
            <a:pPr algn="l" lvl="1">
              <a:spcAft>
                <a:spcPts val="900"/>
              </a:spcAft>
            </a:pPr>
            <a:r>
              <a:rPr sz="1500" b="0">
                <a:solidFill>
                  <a:srgbClr val="3A3A3A"/>
                </a:solidFill>
                <a:latin typeface="Calibri"/>
              </a:rPr>
              <a:t>–  Versión final: clasificación supervisada (árboles / gradient boosting) sobre etiquetas de juego responsable y rentabilidad.</a:t>
            </a:r>
          </a:p>
          <a:p>
            <a:pPr algn="l">
              <a:spcAft>
                <a:spcPts val="900"/>
              </a:spcAft>
            </a:pPr>
            <a:r>
              <a:rPr sz="1800" b="1">
                <a:solidFill>
                  <a:srgbClr val="0A1B3D"/>
                </a:solidFill>
                <a:latin typeface="Calibri"/>
              </a:rPr>
              <a:t>Uso</a:t>
            </a:r>
          </a:p>
          <a:p>
            <a:pPr algn="l" lvl="1">
              <a:spcAft>
                <a:spcPts val="900"/>
              </a:spcAft>
            </a:pPr>
            <a:r>
              <a:rPr sz="1500" b="0">
                <a:solidFill>
                  <a:srgbClr val="3A3A3A"/>
                </a:solidFill>
                <a:latin typeface="Calibri"/>
              </a:rPr>
              <a:t>–  Filtro previo a cualquier campaña: el riesgo alto no se incentiva; el riesgo medio recibe recompensas moderadas.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C9A24B"/>
                </a:solidFill>
                <a:latin typeface="Calibri"/>
              </a:rPr>
              <a:t>COMPONENTE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658368"/>
            <a:ext cx="106070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0">
                <a:solidFill>
                  <a:srgbClr val="0A1B3D"/>
                </a:solidFill>
                <a:latin typeface="Georgia"/>
              </a:rPr>
              <a:t>Modelo de probabilidad de respuesta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81328"/>
            <a:ext cx="2011680" cy="41148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0" y="384048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>
                <a:solidFill>
                  <a:srgbClr val="6E6A62"/>
                </a:solidFill>
                <a:latin typeface="Calibri"/>
              </a:rPr>
              <a:t>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83080"/>
            <a:ext cx="10881360" cy="4754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900"/>
              </a:spcAft>
            </a:pPr>
            <a:r>
              <a:rPr sz="1800" b="1">
                <a:solidFill>
                  <a:srgbClr val="0A1B3D"/>
                </a:solidFill>
                <a:latin typeface="Calibri"/>
              </a:rPr>
              <a:t>Qué predice</a:t>
            </a:r>
          </a:p>
          <a:p>
            <a:pPr algn="l" lvl="1">
              <a:spcAft>
                <a:spcPts val="900"/>
              </a:spcAft>
            </a:pPr>
            <a:r>
              <a:rPr sz="1500" b="0">
                <a:solidFill>
                  <a:srgbClr val="3A3A3A"/>
                </a:solidFill>
                <a:latin typeface="Calibri"/>
              </a:rPr>
              <a:t>–  La probabilidad (0 a 1) de que un cliente responda positivamente a una recompensa: vuelve a visitar / juega tras recibir el incentivo.</a:t>
            </a:r>
          </a:p>
          <a:p>
            <a:pPr algn="l">
              <a:spcAft>
                <a:spcPts val="900"/>
              </a:spcAft>
            </a:pPr>
            <a:r>
              <a:rPr sz="1800" b="1">
                <a:solidFill>
                  <a:srgbClr val="0A1B3D"/>
                </a:solidFill>
                <a:latin typeface="Calibri"/>
              </a:rPr>
              <a:t>Enfoque</a:t>
            </a:r>
          </a:p>
          <a:p>
            <a:pPr algn="l" lvl="1">
              <a:spcAft>
                <a:spcPts val="900"/>
              </a:spcAft>
            </a:pPr>
            <a:r>
              <a:rPr sz="1500" b="0">
                <a:solidFill>
                  <a:srgbClr val="3A3A3A"/>
                </a:solidFill>
                <a:latin typeface="Calibri"/>
              </a:rPr>
              <a:t>–  Clasificación binaria (regresión logística como baseline, luego gradient boosting) con las variables de actividad, valor y tendencia.</a:t>
            </a:r>
          </a:p>
          <a:p>
            <a:pPr algn="l" lvl="1">
              <a:spcAft>
                <a:spcPts val="900"/>
              </a:spcAft>
            </a:pPr>
            <a:r>
              <a:rPr sz="1500" b="0">
                <a:solidFill>
                  <a:srgbClr val="3A3A3A"/>
                </a:solidFill>
                <a:latin typeface="Calibri"/>
              </a:rPr>
              <a:t>–  Si hay histórico de campañas con grupo de control: modelo de uplift (efecto incremental del incentivo).</a:t>
            </a:r>
          </a:p>
          <a:p>
            <a:pPr algn="l">
              <a:spcAft>
                <a:spcPts val="900"/>
              </a:spcAft>
            </a:pPr>
            <a:r>
              <a:rPr sz="1800" b="1">
                <a:solidFill>
                  <a:srgbClr val="0A1B3D"/>
                </a:solidFill>
                <a:latin typeface="Calibri"/>
              </a:rPr>
              <a:t>Salida</a:t>
            </a:r>
          </a:p>
          <a:p>
            <a:pPr algn="l" lvl="1">
              <a:spcAft>
                <a:spcPts val="900"/>
              </a:spcAft>
            </a:pPr>
            <a:r>
              <a:rPr sz="1500" b="0">
                <a:solidFill>
                  <a:srgbClr val="3A3A3A"/>
                </a:solidFill>
                <a:latin typeface="Calibri"/>
              </a:rPr>
              <a:t>–  Score calibrado + decil de propensión; en el prototipo se usa una regla proxy (recencia + tendencia + uso de comps).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C9A24B"/>
                </a:solidFill>
                <a:latin typeface="Calibri"/>
              </a:rPr>
              <a:t>COMPONENTE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658368"/>
            <a:ext cx="106070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0">
                <a:solidFill>
                  <a:srgbClr val="0A1B3D"/>
                </a:solidFill>
                <a:latin typeface="Georgia"/>
              </a:rPr>
              <a:t>Optimización de la asignación de recompensas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81328"/>
            <a:ext cx="2011680" cy="41148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0" y="384048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>
                <a:solidFill>
                  <a:srgbClr val="6E6A62"/>
                </a:solidFill>
                <a:latin typeface="Calibri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83080"/>
            <a:ext cx="10881360" cy="4754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900"/>
              </a:spcAft>
            </a:pPr>
            <a:r>
              <a:rPr sz="1800" b="1">
                <a:solidFill>
                  <a:srgbClr val="0A1B3D"/>
                </a:solidFill>
                <a:latin typeface="Calibri"/>
              </a:rPr>
              <a:t>Idea</a:t>
            </a:r>
          </a:p>
          <a:p>
            <a:pPr algn="l" lvl="1">
              <a:spcAft>
                <a:spcPts val="900"/>
              </a:spcAft>
            </a:pPr>
            <a:r>
              <a:rPr sz="1500" b="0">
                <a:solidFill>
                  <a:srgbClr val="3A3A3A"/>
                </a:solidFill>
                <a:latin typeface="Calibri"/>
              </a:rPr>
              <a:t>–  Elegir a quién y qué recompensa dar para maximizar el retorno esperado del presupuesto promocional.</a:t>
            </a:r>
          </a:p>
          <a:p>
            <a:pPr algn="l" lvl="1">
              <a:spcAft>
                <a:spcPts val="900"/>
              </a:spcAft>
            </a:pPr>
            <a:r>
              <a:rPr sz="1500" b="0">
                <a:solidFill>
                  <a:srgbClr val="3A3A3A"/>
                </a:solidFill>
                <a:latin typeface="Calibri"/>
              </a:rPr>
              <a:t>–  Valor esperado por cliente  =  P(respuesta) × valor incremental estimado  −  costo de la recompensa</a:t>
            </a:r>
          </a:p>
          <a:p>
            <a:pPr algn="l">
              <a:spcAft>
                <a:spcPts val="900"/>
              </a:spcAft>
            </a:pPr>
            <a:r>
              <a:rPr sz="1800" b="1">
                <a:solidFill>
                  <a:srgbClr val="0A1B3D"/>
                </a:solidFill>
                <a:latin typeface="Calibri"/>
              </a:rPr>
              <a:t>Restricciones</a:t>
            </a:r>
          </a:p>
          <a:p>
            <a:pPr algn="l" lvl="1">
              <a:spcAft>
                <a:spcPts val="900"/>
              </a:spcAft>
            </a:pPr>
            <a:r>
              <a:rPr sz="1500" b="0">
                <a:solidFill>
                  <a:srgbClr val="3A3A3A"/>
                </a:solidFill>
                <a:latin typeface="Calibri"/>
              </a:rPr>
              <a:t>–  Presupuesto total de la campaña.</a:t>
            </a:r>
          </a:p>
          <a:p>
            <a:pPr algn="l" lvl="1">
              <a:spcAft>
                <a:spcPts val="900"/>
              </a:spcAft>
            </a:pPr>
            <a:r>
              <a:rPr sz="1500" b="0">
                <a:solidFill>
                  <a:srgbClr val="3A3A3A"/>
                </a:solidFill>
                <a:latin typeface="Calibri"/>
              </a:rPr>
              <a:t>–  Excluir clientes de riesgo alto (juego responsable); limitar a riesgo medio.</a:t>
            </a:r>
          </a:p>
          <a:p>
            <a:pPr algn="l" lvl="1">
              <a:spcAft>
                <a:spcPts val="900"/>
              </a:spcAft>
            </a:pPr>
            <a:r>
              <a:rPr sz="1500" b="0">
                <a:solidFill>
                  <a:srgbClr val="3A3A3A"/>
                </a:solidFill>
                <a:latin typeface="Calibri"/>
              </a:rPr>
              <a:t>–  Topes por segmento y por tipo de recompensa.</a:t>
            </a:r>
          </a:p>
          <a:p>
            <a:pPr algn="l">
              <a:spcAft>
                <a:spcPts val="900"/>
              </a:spcAft>
            </a:pPr>
            <a:r>
              <a:rPr sz="1800" b="1">
                <a:solidFill>
                  <a:srgbClr val="0A1B3D"/>
                </a:solidFill>
                <a:latin typeface="Calibri"/>
              </a:rPr>
              <a:t>Método</a:t>
            </a:r>
          </a:p>
          <a:p>
            <a:pPr algn="l" lvl="1">
              <a:spcAft>
                <a:spcPts val="900"/>
              </a:spcAft>
            </a:pPr>
            <a:r>
              <a:rPr sz="1500" b="0">
                <a:solidFill>
                  <a:srgbClr val="3A3A3A"/>
                </a:solidFill>
                <a:latin typeface="Calibri"/>
              </a:rPr>
              <a:t>–  Ranking por valor esperado y selección tipo 'mochila' (knapsack); baseline = reglas actuales del casino.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C9A24B"/>
                </a:solidFill>
                <a:latin typeface="Calibri"/>
              </a:rPr>
              <a:t>COMPONENTE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658368"/>
            <a:ext cx="106070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0">
                <a:solidFill>
                  <a:srgbClr val="0A1B3D"/>
                </a:solidFill>
                <a:latin typeface="Georgia"/>
              </a:rPr>
              <a:t>Capa de IA generativa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81328"/>
            <a:ext cx="2011680" cy="41148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0" y="384048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>
                <a:solidFill>
                  <a:srgbClr val="6E6A62"/>
                </a:solidFill>
                <a:latin typeface="Calibri"/>
              </a:rP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83080"/>
            <a:ext cx="10881360" cy="4754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900"/>
              </a:spcAft>
            </a:pPr>
            <a:r>
              <a:rPr sz="1800" b="1">
                <a:solidFill>
                  <a:srgbClr val="0A1B3D"/>
                </a:solidFill>
                <a:latin typeface="Calibri"/>
              </a:rPr>
              <a:t>Explicación de resultados</a:t>
            </a:r>
          </a:p>
          <a:p>
            <a:pPr algn="l" lvl="1">
              <a:spcAft>
                <a:spcPts val="900"/>
              </a:spcAft>
            </a:pPr>
            <a:r>
              <a:rPr sz="1500" b="0">
                <a:solidFill>
                  <a:srgbClr val="3A3A3A"/>
                </a:solidFill>
                <a:latin typeface="Calibri"/>
              </a:rPr>
              <a:t>–  Traduce los scores y las variables (p. ej. SHAP) a un texto claro: por qué este cliente es de riesgo medio y alta propensión.</a:t>
            </a:r>
          </a:p>
          <a:p>
            <a:pPr algn="l">
              <a:spcAft>
                <a:spcPts val="900"/>
              </a:spcAft>
            </a:pPr>
            <a:r>
              <a:rPr sz="1800" b="1">
                <a:solidFill>
                  <a:srgbClr val="0A1B3D"/>
                </a:solidFill>
                <a:latin typeface="Calibri"/>
              </a:rPr>
              <a:t>Recomendación accionable</a:t>
            </a:r>
          </a:p>
          <a:p>
            <a:pPr algn="l" lvl="1">
              <a:spcAft>
                <a:spcPts val="900"/>
              </a:spcAft>
            </a:pPr>
            <a:r>
              <a:rPr sz="1500" b="0">
                <a:solidFill>
                  <a:srgbClr val="3A3A3A"/>
                </a:solidFill>
                <a:latin typeface="Calibri"/>
              </a:rPr>
              <a:t>–  Genera la oferta sugerida y el mensaje personalizado (canal, tono, beneficio) para cada cliente elegible.</a:t>
            </a:r>
          </a:p>
          <a:p>
            <a:pPr algn="l">
              <a:spcAft>
                <a:spcPts val="900"/>
              </a:spcAft>
            </a:pPr>
            <a:r>
              <a:rPr sz="1800" b="1">
                <a:solidFill>
                  <a:srgbClr val="0A1B3D"/>
                </a:solidFill>
                <a:latin typeface="Calibri"/>
              </a:rPr>
              <a:t>Consulta en lenguaje natural</a:t>
            </a:r>
          </a:p>
          <a:p>
            <a:pPr algn="l" lvl="1">
              <a:spcAft>
                <a:spcPts val="900"/>
              </a:spcAft>
            </a:pPr>
            <a:r>
              <a:rPr sz="1500" b="0">
                <a:solidFill>
                  <a:srgbClr val="3A3A3A"/>
                </a:solidFill>
                <a:latin typeface="Calibri"/>
              </a:rPr>
              <a:t>–  El analista pregunta sobre la cartera y recibe respuestas y resúmenes.</a:t>
            </a:r>
          </a:p>
          <a:p>
            <a:pPr algn="l">
              <a:spcAft>
                <a:spcPts val="900"/>
              </a:spcAft>
            </a:pPr>
            <a:r>
              <a:rPr sz="1800" b="1">
                <a:solidFill>
                  <a:srgbClr val="0A1B3D"/>
                </a:solidFill>
                <a:latin typeface="Calibri"/>
              </a:rPr>
              <a:t>Control (RAG + guardrails)</a:t>
            </a:r>
          </a:p>
          <a:p>
            <a:pPr algn="l" lvl="1">
              <a:spcAft>
                <a:spcPts val="900"/>
              </a:spcAft>
            </a:pPr>
            <a:r>
              <a:rPr sz="1500" b="0">
                <a:solidFill>
                  <a:srgbClr val="3A3A3A"/>
                </a:solidFill>
                <a:latin typeface="Calibri"/>
              </a:rPr>
              <a:t>–  Las respuestas se anclan en la política de recompensas y de juego responsable; nunca sugiere incentivar a clientes de riesgo alto.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C9A24B"/>
                </a:solidFill>
                <a:latin typeface="Calibri"/>
              </a:rPr>
              <a:t>ARQUITECTURA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658368"/>
            <a:ext cx="106070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0">
                <a:solidFill>
                  <a:srgbClr val="0A1B3D"/>
                </a:solidFill>
                <a:latin typeface="Georgia"/>
              </a:rPr>
              <a:t>Pipeline técnico y stack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81328"/>
            <a:ext cx="2011680" cy="41148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0" y="384048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>
                <a:solidFill>
                  <a:srgbClr val="6E6A62"/>
                </a:solidFill>
                <a:latin typeface="Calibri"/>
              </a:rPr>
              <a:t>12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2057400"/>
            <a:ext cx="3429000" cy="1371600"/>
          </a:xfrm>
          <a:prstGeom prst="rect">
            <a:avLst/>
          </a:prstGeom>
          <a:solidFill>
            <a:srgbClr val="F1ECE1"/>
          </a:solidFill>
          <a:ln w="12700">
            <a:solidFill>
              <a:srgbClr val="C9A2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" y="2167128"/>
            <a:ext cx="3136392" cy="11521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0A1B3D"/>
                </a:solidFill>
                <a:latin typeface="Georgia"/>
              </a:rPr>
              <a:t>1  Fuente</a:t>
            </a:r>
          </a:p>
          <a:p>
            <a:pPr algn="l">
              <a:spcAft>
                <a:spcPts val="600"/>
              </a:spcAft>
            </a:pPr>
            <a:r>
              <a:rPr sz="1050" b="0">
                <a:solidFill>
                  <a:srgbClr val="3A3A3A"/>
                </a:solidFill>
                <a:latin typeface="Calibri"/>
              </a:rPr>
              <a:t>SQL Server
FctPlayerSession
+ dimensiones</a:t>
            </a:r>
          </a:p>
        </p:txBody>
      </p:sp>
      <p:sp>
        <p:nvSpPr>
          <p:cNvPr id="9" name="Rectangle 8"/>
          <p:cNvSpPr/>
          <p:nvPr/>
        </p:nvSpPr>
        <p:spPr>
          <a:xfrm>
            <a:off x="4251960" y="2057400"/>
            <a:ext cx="3429000" cy="1371600"/>
          </a:xfrm>
          <a:prstGeom prst="rect">
            <a:avLst/>
          </a:prstGeom>
          <a:solidFill>
            <a:srgbClr val="F1ECE1"/>
          </a:solidFill>
          <a:ln w="12700">
            <a:solidFill>
              <a:srgbClr val="C9A2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16552" y="2167128"/>
            <a:ext cx="3136392" cy="11521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0A1B3D"/>
                </a:solidFill>
                <a:latin typeface="Georgia"/>
              </a:rPr>
              <a:t>2  ETL / features</a:t>
            </a:r>
          </a:p>
          <a:p>
            <a:pPr algn="l">
              <a:spcAft>
                <a:spcPts val="600"/>
              </a:spcAft>
            </a:pPr>
            <a:r>
              <a:rPr sz="1050" b="0">
                <a:solidFill>
                  <a:srgbClr val="3A3A3A"/>
                </a:solidFill>
                <a:latin typeface="Calibri"/>
              </a:rPr>
              <a:t>Python + pandas
vw_FeaturesCliente
limpieza y validación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01000" y="2057400"/>
            <a:ext cx="3429000" cy="1371600"/>
          </a:xfrm>
          <a:prstGeom prst="rect">
            <a:avLst/>
          </a:prstGeom>
          <a:solidFill>
            <a:srgbClr val="F1ECE1"/>
          </a:solidFill>
          <a:ln w="12700">
            <a:solidFill>
              <a:srgbClr val="C9A2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65592" y="2167128"/>
            <a:ext cx="3136392" cy="11521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0A1B3D"/>
                </a:solidFill>
                <a:latin typeface="Georgia"/>
              </a:rPr>
              <a:t>3  Modelado</a:t>
            </a:r>
          </a:p>
          <a:p>
            <a:pPr algn="l">
              <a:spcAft>
                <a:spcPts val="600"/>
              </a:spcAft>
            </a:pPr>
            <a:r>
              <a:rPr sz="1050" b="0">
                <a:solidFill>
                  <a:srgbClr val="3A3A3A"/>
                </a:solidFill>
                <a:latin typeface="Calibri"/>
              </a:rPr>
              <a:t>scikit-learn /
gradient boosting
riesgo + respuesta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3886200"/>
            <a:ext cx="3429000" cy="1371600"/>
          </a:xfrm>
          <a:prstGeom prst="rect">
            <a:avLst/>
          </a:prstGeom>
          <a:solidFill>
            <a:srgbClr val="F1ECE1"/>
          </a:solidFill>
          <a:ln w="12700">
            <a:solidFill>
              <a:srgbClr val="C9A2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7512" y="3995928"/>
            <a:ext cx="3136392" cy="11521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0A1B3D"/>
                </a:solidFill>
                <a:latin typeface="Georgia"/>
              </a:rPr>
              <a:t>4  Optimización</a:t>
            </a:r>
          </a:p>
          <a:p>
            <a:pPr algn="l">
              <a:spcAft>
                <a:spcPts val="600"/>
              </a:spcAft>
            </a:pPr>
            <a:r>
              <a:rPr sz="1050" b="0">
                <a:solidFill>
                  <a:srgbClr val="3A3A3A"/>
                </a:solidFill>
                <a:latin typeface="Calibri"/>
              </a:rPr>
              <a:t>reglas + knapsack
presupuesto y
restricciones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51960" y="3886200"/>
            <a:ext cx="3429000" cy="1371600"/>
          </a:xfrm>
          <a:prstGeom prst="rect">
            <a:avLst/>
          </a:prstGeom>
          <a:solidFill>
            <a:srgbClr val="F1ECE1"/>
          </a:solidFill>
          <a:ln w="12700">
            <a:solidFill>
              <a:srgbClr val="C9A2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16552" y="3995928"/>
            <a:ext cx="3136392" cy="11521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0A1B3D"/>
                </a:solidFill>
                <a:latin typeface="Georgia"/>
              </a:rPr>
              <a:t>5  IA generativa</a:t>
            </a:r>
          </a:p>
          <a:p>
            <a:pPr algn="l">
              <a:spcAft>
                <a:spcPts val="600"/>
              </a:spcAft>
            </a:pPr>
            <a:r>
              <a:rPr sz="1050" b="0">
                <a:solidFill>
                  <a:srgbClr val="3A3A3A"/>
                </a:solidFill>
                <a:latin typeface="Calibri"/>
              </a:rPr>
              <a:t>API de LLM (Claude)
explicación + RAG
de políticas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01000" y="3886200"/>
            <a:ext cx="3429000" cy="1371600"/>
          </a:xfrm>
          <a:prstGeom prst="rect">
            <a:avLst/>
          </a:prstGeom>
          <a:solidFill>
            <a:srgbClr val="F1ECE1"/>
          </a:solidFill>
          <a:ln w="12700">
            <a:solidFill>
              <a:srgbClr val="C9A2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65592" y="3995928"/>
            <a:ext cx="3136392" cy="11521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0A1B3D"/>
                </a:solidFill>
                <a:latin typeface="Georgia"/>
              </a:rPr>
              <a:t>6  Entrega</a:t>
            </a:r>
          </a:p>
          <a:p>
            <a:pPr algn="l">
              <a:spcAft>
                <a:spcPts val="600"/>
              </a:spcAft>
            </a:pPr>
            <a:r>
              <a:rPr sz="1050" b="0">
                <a:solidFill>
                  <a:srgbClr val="3A3A3A"/>
                </a:solidFill>
                <a:latin typeface="Calibri"/>
              </a:rPr>
              <a:t>app de demo
(Streamlit) +
tablero de cartera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5212080"/>
            <a:ext cx="109728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>
                <a:solidFill>
                  <a:srgbClr val="3A3A3A"/>
                </a:solidFill>
                <a:latin typeface="Calibri"/>
              </a:rPr>
              <a:t>Transversal: control de versiones, particiones train/test, seguimiento de métricas y registro de decisiones.</a:t>
            </a:r>
          </a:p>
          <a:p>
            <a:pPr algn="l">
              <a:spcAft>
                <a:spcPts val="600"/>
              </a:spcAft>
            </a:pPr>
            <a:r>
              <a:rPr sz="1150" b="0">
                <a:solidFill>
                  <a:srgbClr val="6E6A62"/>
                </a:solidFill>
                <a:latin typeface="Calibri"/>
              </a:rPr>
              <a:t>Stack: Python 3, pandas, scikit-learn, XGBoost/LightGBM, SHAP, SQL Server 2022, API de LLM, Streamlit, Jupyter.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C9A24B"/>
                </a:solidFill>
                <a:latin typeface="Calibri"/>
              </a:rPr>
              <a:t>EVALUACIÓN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658368"/>
            <a:ext cx="106070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0">
                <a:solidFill>
                  <a:srgbClr val="0A1B3D"/>
                </a:solidFill>
                <a:latin typeface="Georgia"/>
              </a:rPr>
              <a:t>Cómo mediremos que funciona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81328"/>
            <a:ext cx="2011680" cy="41148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0" y="384048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>
                <a:solidFill>
                  <a:srgbClr val="6E6A62"/>
                </a:solidFill>
                <a:latin typeface="Calibri"/>
              </a:rPr>
              <a:t>13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85800" y="1783080"/>
          <a:ext cx="10835640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4640"/>
                <a:gridCol w="8001000"/>
              </a:tblGrid>
              <a:tr h="561702"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Componente</a:t>
                      </a:r>
                    </a:p>
                  </a:txBody>
                  <a:tcPr>
                    <a:solidFill>
                      <a:srgbClr val="0A1B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Métricas</a:t>
                      </a:r>
                    </a:p>
                  </a:txBody>
                  <a:tcPr>
                    <a:solidFill>
                      <a:srgbClr val="0A1B3D"/>
                    </a:solidFill>
                  </a:tcPr>
                </a:tc>
              </a:tr>
              <a:tr h="561702"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3A3A3A"/>
                          </a:solidFill>
                          <a:latin typeface="Calibri"/>
                        </a:defRPr>
                      </a:pPr>
                      <a:r>
                        <a:t>Modelo de riesgo</a:t>
                      </a:r>
                    </a:p>
                  </a:txBody>
                  <a:tcPr>
                    <a:solidFill>
                      <a:srgbClr val="F1EC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3A3A3A"/>
                          </a:solidFill>
                          <a:latin typeface="Calibri"/>
                        </a:defRPr>
                      </a:pPr>
                      <a:r>
                        <a:t>AUC / F1, recall en clase 'Alto', matriz de confusión; validación con reglas expertas</a:t>
                      </a:r>
                    </a:p>
                  </a:txBody>
                  <a:tcPr>
                    <a:solidFill>
                      <a:srgbClr val="F1ECE1"/>
                    </a:solidFill>
                  </a:tcPr>
                </a:tc>
              </a:tr>
              <a:tr h="561702"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3A3A3A"/>
                          </a:solidFill>
                          <a:latin typeface="Calibri"/>
                        </a:defRPr>
                      </a:pPr>
                      <a:r>
                        <a:t>Modelo de respuesta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3A3A3A"/>
                          </a:solidFill>
                          <a:latin typeface="Calibri"/>
                        </a:defRPr>
                      </a:pPr>
                      <a:r>
                        <a:t>AUC-ROC, PR-AUC, calibración (Brier), curvas lift / ganancia, Precision@K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1702"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3A3A3A"/>
                          </a:solidFill>
                          <a:latin typeface="Calibri"/>
                        </a:defRPr>
                      </a:pPr>
                      <a:r>
                        <a:t>Uplift (si aplica)</a:t>
                      </a:r>
                    </a:p>
                  </a:txBody>
                  <a:tcPr>
                    <a:solidFill>
                      <a:srgbClr val="F1EC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3A3A3A"/>
                          </a:solidFill>
                          <a:latin typeface="Calibri"/>
                        </a:defRPr>
                      </a:pPr>
                      <a:r>
                        <a:t>coeficiente de Qini, uplift por decil</a:t>
                      </a:r>
                    </a:p>
                  </a:txBody>
                  <a:tcPr>
                    <a:solidFill>
                      <a:srgbClr val="F1ECE1"/>
                    </a:solidFill>
                  </a:tcPr>
                </a:tc>
              </a:tr>
              <a:tr h="561702"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3A3A3A"/>
                          </a:solidFill>
                          <a:latin typeface="Calibri"/>
                        </a:defRPr>
                      </a:pPr>
                      <a:r>
                        <a:t>Optimización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3A3A3A"/>
                          </a:solidFill>
                          <a:latin typeface="Calibri"/>
                        </a:defRPr>
                      </a:pPr>
                      <a:r>
                        <a:t>retorno esperado de la cartera vs. baseline de reglas, uso de presupuesto, cobertura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1702"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3A3A3A"/>
                          </a:solidFill>
                          <a:latin typeface="Calibri"/>
                        </a:defRPr>
                      </a:pPr>
                      <a:r>
                        <a:t>IA generativa</a:t>
                      </a:r>
                    </a:p>
                  </a:txBody>
                  <a:tcPr>
                    <a:solidFill>
                      <a:srgbClr val="F1EC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3A3A3A"/>
                          </a:solidFill>
                          <a:latin typeface="Calibri"/>
                        </a:defRPr>
                      </a:pPr>
                      <a:r>
                        <a:t>rúbrica de utilidad y fidelidad de las explicaciones, % de recomendaciones conformes a política</a:t>
                      </a:r>
                    </a:p>
                  </a:txBody>
                  <a:tcPr>
                    <a:solidFill>
                      <a:srgbClr val="F1ECE1"/>
                    </a:solidFill>
                  </a:tcPr>
                </a:tc>
              </a:tr>
              <a:tr h="561708"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3A3A3A"/>
                          </a:solidFill>
                          <a:latin typeface="Calibri"/>
                        </a:defRPr>
                      </a:pPr>
                      <a:r>
                        <a:t>Negocio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3A3A3A"/>
                          </a:solidFill>
                          <a:latin typeface="Calibri"/>
                        </a:defRPr>
                      </a:pPr>
                      <a:r>
                        <a:t>ROI incremental simulado, nº de clientes de riesgo alto correctamente excluidos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85800" y="5852160"/>
            <a:ext cx="10789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6E6A62"/>
                </a:solidFill>
                <a:latin typeface="Calibri"/>
              </a:rPr>
              <a:t>Partición temporal: se entrena con los primeros días y se valida con los últimos.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C9A24B"/>
                </a:solidFill>
                <a:latin typeface="Calibri"/>
              </a:rPr>
              <a:t>CIERRE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658368"/>
            <a:ext cx="106070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0">
                <a:solidFill>
                  <a:srgbClr val="0A1B3D"/>
                </a:solidFill>
                <a:latin typeface="Georgia"/>
              </a:rPr>
              <a:t>Plan, riesgos y próximos pasos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81328"/>
            <a:ext cx="2011680" cy="41148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0" y="384048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>
                <a:solidFill>
                  <a:srgbClr val="6E6A62"/>
                </a:solidFill>
                <a:latin typeface="Calibri"/>
              </a:rPr>
              <a:t>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83080"/>
            <a:ext cx="10881360" cy="4754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900"/>
              </a:spcAft>
            </a:pPr>
            <a:r>
              <a:rPr sz="1800" b="1">
                <a:solidFill>
                  <a:srgbClr val="0A1B3D"/>
                </a:solidFill>
                <a:latin typeface="Calibri"/>
              </a:rPr>
              <a:t>Cronograma</a:t>
            </a:r>
          </a:p>
          <a:p>
            <a:pPr algn="l" lvl="1">
              <a:spcAft>
                <a:spcPts val="900"/>
              </a:spcAft>
            </a:pPr>
            <a:r>
              <a:rPr sz="1500" b="0">
                <a:solidFill>
                  <a:srgbClr val="3A3A3A"/>
                </a:solidFill>
                <a:latin typeface="Calibri"/>
              </a:rPr>
              <a:t>–  Hoy → 2º seguimiento: tabla analítica lista, EDA, modelos de riesgo y respuesta v1, baseline de reglas y primeras métricas (prototipo parcial).</a:t>
            </a:r>
          </a:p>
          <a:p>
            <a:pPr algn="l" lvl="1">
              <a:spcAft>
                <a:spcPts val="900"/>
              </a:spcAft>
            </a:pPr>
            <a:r>
              <a:rPr sz="1500" b="0">
                <a:solidFill>
                  <a:srgbClr val="3A3A3A"/>
                </a:solidFill>
                <a:latin typeface="Calibri"/>
              </a:rPr>
              <a:t>–  2º seguimiento → entrega: optimizador + IA generativa integrados, evaluación completa, demo en vivo, documentación y video.</a:t>
            </a:r>
          </a:p>
          <a:p>
            <a:pPr algn="l">
              <a:spcAft>
                <a:spcPts val="900"/>
              </a:spcAft>
            </a:pPr>
            <a:r>
              <a:rPr sz="1800" b="1">
                <a:solidFill>
                  <a:srgbClr val="0A1B3D"/>
                </a:solidFill>
                <a:latin typeface="Calibri"/>
              </a:rPr>
              <a:t>Riesgos y mitigación</a:t>
            </a:r>
          </a:p>
          <a:p>
            <a:pPr algn="l" lvl="1">
              <a:spcAft>
                <a:spcPts val="900"/>
              </a:spcAft>
            </a:pPr>
            <a:r>
              <a:rPr sz="1500" b="0">
                <a:solidFill>
                  <a:srgbClr val="3A3A3A"/>
                </a:solidFill>
                <a:latin typeface="Calibri"/>
              </a:rPr>
              <a:t>–  Datos simulados sin etiquetas reales → uso de proxies y métodos no supervisados; documentar supuestos.</a:t>
            </a:r>
          </a:p>
          <a:p>
            <a:pPr algn="l" lvl="1">
              <a:spcAft>
                <a:spcPts val="900"/>
              </a:spcAft>
            </a:pPr>
            <a:r>
              <a:rPr sz="1500" b="0">
                <a:solidFill>
                  <a:srgbClr val="3A3A3A"/>
                </a:solidFill>
                <a:latin typeface="Calibri"/>
              </a:rPr>
              <a:t>–  Sesgo y equidad en el scoring → auditar, no usar atributos sensibles.</a:t>
            </a:r>
          </a:p>
          <a:p>
            <a:pPr algn="l" lvl="1">
              <a:spcAft>
                <a:spcPts val="900"/>
              </a:spcAft>
            </a:pPr>
            <a:r>
              <a:rPr sz="1500" b="0">
                <a:solidFill>
                  <a:srgbClr val="3A3A3A"/>
                </a:solidFill>
                <a:latin typeface="Calibri"/>
              </a:rPr>
              <a:t>–  Riesgo ético (incentivar juego problemático) → exclusión obligatoria de riesgo alto y guardrails en la IA generativa.</a:t>
            </a:r>
          </a:p>
          <a:p>
            <a:pPr algn="l" lvl="1">
              <a:spcAft>
                <a:spcPts val="900"/>
              </a:spcAft>
            </a:pPr>
            <a:r>
              <a:rPr sz="1500" b="0">
                <a:solidFill>
                  <a:srgbClr val="3A3A3A"/>
                </a:solidFill>
                <a:latin typeface="Calibri"/>
              </a:rPr>
              <a:t>–  Alucinaciones del LLM → RAG sobre políticas + validación + rúbrica de revisión.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¿Consultas y feedback del docente?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